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441" r:id="rId2"/>
    <p:sldId id="442" r:id="rId3"/>
    <p:sldId id="443" r:id="rId4"/>
    <p:sldId id="302" r:id="rId5"/>
    <p:sldId id="271" r:id="rId6"/>
    <p:sldId id="368" r:id="rId7"/>
    <p:sldId id="370" r:id="rId8"/>
    <p:sldId id="372" r:id="rId9"/>
    <p:sldId id="374" r:id="rId10"/>
    <p:sldId id="304" r:id="rId11"/>
    <p:sldId id="310" r:id="rId12"/>
    <p:sldId id="313" r:id="rId13"/>
    <p:sldId id="321" r:id="rId14"/>
    <p:sldId id="324" r:id="rId15"/>
    <p:sldId id="327" r:id="rId16"/>
    <p:sldId id="331" r:id="rId17"/>
    <p:sldId id="334" r:id="rId18"/>
    <p:sldId id="430" r:id="rId19"/>
    <p:sldId id="338" r:id="rId20"/>
    <p:sldId id="431" r:id="rId21"/>
    <p:sldId id="341" r:id="rId22"/>
    <p:sldId id="432" r:id="rId23"/>
    <p:sldId id="344" r:id="rId24"/>
    <p:sldId id="433" r:id="rId25"/>
    <p:sldId id="347" r:id="rId26"/>
    <p:sldId id="355" r:id="rId27"/>
    <p:sldId id="358" r:id="rId28"/>
    <p:sldId id="361" r:id="rId29"/>
    <p:sldId id="366" r:id="rId30"/>
    <p:sldId id="416" r:id="rId31"/>
    <p:sldId id="394" r:id="rId32"/>
    <p:sldId id="411" r:id="rId33"/>
    <p:sldId id="412" r:id="rId34"/>
    <p:sldId id="413" r:id="rId35"/>
    <p:sldId id="414" r:id="rId36"/>
    <p:sldId id="415" r:id="rId37"/>
    <p:sldId id="418" r:id="rId38"/>
    <p:sldId id="420" r:id="rId39"/>
    <p:sldId id="422" r:id="rId40"/>
    <p:sldId id="426" r:id="rId41"/>
    <p:sldId id="429" r:id="rId42"/>
    <p:sldId id="438" r:id="rId4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84" y="1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9408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Hold this slide while the room settles.
Open on the tagline: ideas are common, enterprises are built — the gap is a discipline, not a secret.
TO DO BEFORE THE SESSION: replace the logo placeholder bottom-right with the YALI and U.S. Mission logos.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Profile. Eight seconds of reading, then talk over it — credibility comes from what you say next, not from the CV.
Land the 180+ number: the pattern across 180 businesses is what you are about to teach.
TO DO BEFORE THE SESSION: drop your portrait into the left panel; confirm the four client names are cleared for public naming (consider logos instead of text); confirm whether the Mastercard Foundation EdTech Fellowship supported you personally or Kryptr.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C8960851-653B-48B2-92AE-BCE21AA126FA}"/>
              </a:ext>
            </a:extLst>
          </p:cNvPr>
          <p:cNvSpPr/>
          <p:nvPr/>
        </p:nvSpPr>
        <p:spPr>
          <a:xfrm rot="10800000">
            <a:off x="5969000" y="0"/>
            <a:ext cx="6604000" cy="6858000"/>
          </a:xfrm>
          <a:prstGeom prst="rtTriangl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ight Triangle 14">
            <a:extLst>
              <a:ext uri="{FF2B5EF4-FFF2-40B4-BE49-F238E27FC236}">
                <a16:creationId xmlns:a16="http://schemas.microsoft.com/office/drawing/2014/main" id="{A2E06D72-0A3D-4954-8C6F-831DDA1E47EC}"/>
              </a:ext>
            </a:extLst>
          </p:cNvPr>
          <p:cNvSpPr/>
          <p:nvPr/>
        </p:nvSpPr>
        <p:spPr>
          <a:xfrm rot="10800000">
            <a:off x="6299200" y="0"/>
            <a:ext cx="6604000" cy="6858000"/>
          </a:xfrm>
          <a:prstGeom prst="rtTriangle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247B85-2F21-46C8-B8E2-42E696848CC7}"/>
              </a:ext>
            </a:extLst>
          </p:cNvPr>
          <p:cNvSpPr/>
          <p:nvPr/>
        </p:nvSpPr>
        <p:spPr>
          <a:xfrm>
            <a:off x="914400" y="812800"/>
            <a:ext cx="4191000" cy="50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E7B5E0-F27B-4FC0-A671-B4348E3BBBB9}"/>
              </a:ext>
            </a:extLst>
          </p:cNvPr>
          <p:cNvSpPr txBox="1"/>
          <p:nvPr/>
        </p:nvSpPr>
        <p:spPr>
          <a:xfrm>
            <a:off x="1117600" y="939800"/>
            <a:ext cx="381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400" b="1" spc="300" dirty="0">
                <a:solidFill>
                  <a:srgbClr val="10312B"/>
                </a:solidFill>
                <a:latin typeface="Arial"/>
                <a:cs typeface="Arial"/>
              </a:rPr>
              <a:t>YALI SKILLS LAB 4.0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BA8B25-27AA-4629-B25A-C25549463F6C}"/>
              </a:ext>
            </a:extLst>
          </p:cNvPr>
          <p:cNvSpPr txBox="1"/>
          <p:nvPr/>
        </p:nvSpPr>
        <p:spPr>
          <a:xfrm>
            <a:off x="914400" y="1524000"/>
            <a:ext cx="5461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4800" b="1" dirty="0">
                <a:solidFill>
                  <a:srgbClr val="10312B"/>
                </a:solidFill>
                <a:latin typeface="Arial"/>
                <a:cs typeface="Arial"/>
              </a:rPr>
              <a:t>FROM IDEA TO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47B93F-1F08-49C6-8263-1AA13D3F0468}"/>
              </a:ext>
            </a:extLst>
          </p:cNvPr>
          <p:cNvSpPr txBox="1"/>
          <p:nvPr/>
        </p:nvSpPr>
        <p:spPr>
          <a:xfrm>
            <a:off x="914400" y="2336800"/>
            <a:ext cx="5461000" cy="838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4800" b="1" dirty="0">
                <a:solidFill>
                  <a:srgbClr val="E9A13B"/>
                </a:solidFill>
                <a:latin typeface="Arial"/>
                <a:cs typeface="Arial"/>
              </a:rPr>
              <a:t>ENTERPRISE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7C2A6C-3270-4BAF-9F86-D96ACC716E80}"/>
              </a:ext>
            </a:extLst>
          </p:cNvPr>
          <p:cNvSpPr txBox="1"/>
          <p:nvPr/>
        </p:nvSpPr>
        <p:spPr>
          <a:xfrm>
            <a:off x="914400" y="3429000"/>
            <a:ext cx="5207000" cy="685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800" b="1" dirty="0">
                <a:solidFill>
                  <a:srgbClr val="FF0000"/>
                </a:solidFill>
                <a:latin typeface="Arial"/>
                <a:cs typeface="Arial"/>
              </a:rPr>
              <a:t>Strategy, structure and execution for sustainable business growth.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C06D268-F639-404E-9AB0-314023FE5EB5}"/>
              </a:ext>
            </a:extLst>
          </p:cNvPr>
          <p:cNvSpPr/>
          <p:nvPr/>
        </p:nvSpPr>
        <p:spPr>
          <a:xfrm>
            <a:off x="914400" y="4241800"/>
            <a:ext cx="1524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B6CADC-50A6-47F8-90F2-EDF82930B62C}"/>
              </a:ext>
            </a:extLst>
          </p:cNvPr>
          <p:cNvSpPr txBox="1"/>
          <p:nvPr/>
        </p:nvSpPr>
        <p:spPr>
          <a:xfrm>
            <a:off x="914400" y="4724400"/>
            <a:ext cx="5461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2200" b="1" dirty="0">
                <a:solidFill>
                  <a:srgbClr val="10312B"/>
                </a:solidFill>
                <a:latin typeface="Arial"/>
                <a:cs typeface="Arial"/>
              </a:rPr>
              <a:t>Emmanuel Tarfa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133095-775E-4B84-BA47-C344FEE19AC8}"/>
              </a:ext>
            </a:extLst>
          </p:cNvPr>
          <p:cNvSpPr txBox="1"/>
          <p:nvPr/>
        </p:nvSpPr>
        <p:spPr>
          <a:xfrm>
            <a:off x="914400" y="5156200"/>
            <a:ext cx="5461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Partner and Co-founder, Enzo Krypton &amp; Company. </a:t>
            </a:r>
            <a:r>
              <a:rPr lang="en-US" sz="1800" dirty="0">
                <a:solidFill>
                  <a:srgbClr val="3F4A47"/>
                </a:solidFill>
                <a:latin typeface="Arial"/>
                <a:cs typeface="Arial"/>
              </a:rPr>
              <a:t>M</a:t>
            </a:r>
            <a:r>
              <a:rPr lang="en-NG" sz="1800" dirty="0" err="1">
                <a:solidFill>
                  <a:srgbClr val="3F4A47"/>
                </a:solidFill>
                <a:latin typeface="Arial"/>
                <a:cs typeface="Arial"/>
              </a:rPr>
              <a:t>anagement</a:t>
            </a: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 consultant.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7EDC0CA-2494-4574-ACF7-1B7B83AF5949}"/>
              </a:ext>
            </a:extLst>
          </p:cNvPr>
          <p:cNvSpPr txBox="1"/>
          <p:nvPr/>
        </p:nvSpPr>
        <p:spPr>
          <a:xfrm>
            <a:off x="914400" y="5943600"/>
            <a:ext cx="635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600" b="1" dirty="0">
                <a:solidFill>
                  <a:srgbClr val="5A6771"/>
                </a:solidFill>
                <a:latin typeface="Arial"/>
                <a:cs typeface="Arial"/>
              </a:rPr>
              <a:t>U.S. Consulate General, Lagos   ·   10 August 2026</a:t>
            </a:r>
          </a:p>
        </p:txBody>
      </p:sp>
    </p:spTree>
    <p:extLst>
      <p:ext uri="{BB962C8B-B14F-4D97-AF65-F5344CB8AC3E}">
        <p14:creationId xmlns:p14="http://schemas.microsoft.com/office/powerpoint/2010/main" val="383143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0312B"/>
          </a:solidFill>
          <a:ln w="12700">
            <a:solidFill>
              <a:srgbClr val="10312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43400" y="475488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10312B"/>
                </a:solidFill>
                <a:latin typeface="Arial"/>
                <a:cs typeface="Arial"/>
              </a:rPr>
              <a:t>Emmanuel Tarfa</a:t>
            </a:r>
            <a:endParaRPr lang="en-US" sz="3300" dirty="0">
              <a:latin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4343400" y="10424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96B10"/>
                </a:solidFill>
                <a:latin typeface="Arial"/>
                <a:cs typeface="Arial"/>
              </a:rPr>
              <a:t>Partner &amp; Co-founder  ·  Business Strategist  ·  Management Consultant  ·  Entrepreneur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8" name="Text 6"/>
          <p:cNvSpPr/>
          <p:nvPr/>
        </p:nvSpPr>
        <p:spPr>
          <a:xfrm>
            <a:off x="4343400" y="137160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3F4A47"/>
                </a:solidFill>
                <a:latin typeface="Arial"/>
                <a:cs typeface="Arial"/>
              </a:rPr>
              <a:t>“18 years turning strategy into structure — for firms, founders, and the people who run them.”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43400" y="1874520"/>
            <a:ext cx="2304288" cy="1024128"/>
          </a:xfrm>
          <a:prstGeom prst="roundRect">
            <a:avLst>
              <a:gd name="adj" fmla="val 5357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07992" y="19751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2B"/>
                </a:solidFill>
                <a:latin typeface="Arial"/>
                <a:cs typeface="Arial"/>
              </a:rPr>
              <a:t>18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07992" y="248716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kern="0" spc="110" dirty="0">
                <a:solidFill>
                  <a:srgbClr val="7A8683"/>
                </a:solidFill>
                <a:latin typeface="Arial"/>
                <a:cs typeface="Arial"/>
              </a:rPr>
              <a:t>YEARS CONSULTING</a:t>
            </a:r>
            <a:endParaRPr lang="en-US" sz="850" dirty="0">
              <a:latin typeface="Arial"/>
              <a:cs typeface="Arial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885432" y="1874520"/>
            <a:ext cx="2304288" cy="1024128"/>
          </a:xfrm>
          <a:prstGeom prst="roundRect">
            <a:avLst>
              <a:gd name="adj" fmla="val 5357"/>
            </a:avLst>
          </a:prstGeom>
          <a:solidFill>
            <a:srgbClr val="10312B"/>
          </a:solidFill>
          <a:ln w="12700">
            <a:solidFill>
              <a:srgbClr val="10312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050024" y="19751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9A13B"/>
                </a:solidFill>
                <a:latin typeface="Arial"/>
                <a:cs typeface="Arial"/>
              </a:rPr>
              <a:t>180+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050024" y="248716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kern="0" spc="110" dirty="0">
                <a:solidFill>
                  <a:srgbClr val="A9C4BB"/>
                </a:solidFill>
                <a:latin typeface="Arial"/>
                <a:cs typeface="Arial"/>
              </a:rPr>
              <a:t>COMPANIES ADVISED</a:t>
            </a:r>
            <a:endParaRPr lang="en-US" sz="850" dirty="0">
              <a:latin typeface="Arial"/>
              <a:cs typeface="Arial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427464" y="1874520"/>
            <a:ext cx="2304288" cy="1024128"/>
          </a:xfrm>
          <a:prstGeom prst="roundRect">
            <a:avLst>
              <a:gd name="adj" fmla="val 5357"/>
            </a:avLst>
          </a:prstGeom>
          <a:solidFill>
            <a:srgbClr val="F2F6F4"/>
          </a:solidFill>
          <a:ln w="12700">
            <a:solidFill>
              <a:srgbClr val="F2F6F4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92056" y="1975104"/>
            <a:ext cx="19751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0312B"/>
                </a:solidFill>
                <a:latin typeface="Arial"/>
                <a:cs typeface="Arial"/>
              </a:rPr>
              <a:t>10</a:t>
            </a:r>
            <a:endParaRPr lang="en-US" sz="3000" dirty="0">
              <a:latin typeface="Arial"/>
              <a:cs typeface="Arial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592056" y="2487168"/>
            <a:ext cx="19751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850" b="1" kern="0" spc="110" dirty="0">
                <a:solidFill>
                  <a:srgbClr val="7A8683"/>
                </a:solidFill>
                <a:latin typeface="Arial"/>
                <a:cs typeface="Arial"/>
              </a:rPr>
              <a:t>YEARS IN PARTNERSHIP</a:t>
            </a:r>
            <a:endParaRPr lang="en-US" sz="850" dirty="0">
              <a:latin typeface="Arial"/>
              <a:cs typeface="Arial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343400" y="3204972"/>
            <a:ext cx="118872" cy="1188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581144" y="315468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6B10"/>
                </a:solidFill>
                <a:latin typeface="Arial"/>
                <a:cs typeface="Arial"/>
              </a:rPr>
              <a:t>PROFESSIONAL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81144" y="342900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Trained under the leadership of the Global Big 4</a:t>
            </a:r>
            <a:endParaRPr lang="en-US" sz="1150" dirty="0">
              <a:latin typeface="Arial"/>
              <a:cs typeface="Arial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343400" y="3909060"/>
            <a:ext cx="118872" cy="1188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581144" y="3858768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6B10"/>
                </a:solidFill>
                <a:latin typeface="Arial"/>
                <a:cs typeface="Arial"/>
              </a:rPr>
              <a:t>PRACTICE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81144" y="4133088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Partner &amp; Co-founder, Enzo Krypton &amp; Company — advisory practice marking 10 years in partnership this year</a:t>
            </a:r>
            <a:endParaRPr lang="en-US" sz="1150" dirty="0">
              <a:latin typeface="Arial"/>
              <a:cs typeface="Arial"/>
            </a:endParaRPr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Selected clients: Bamboo Invest · Helium Health · iFitness · Lagos State Government</a:t>
            </a:r>
            <a:endParaRPr lang="en-US" sz="1150" dirty="0">
              <a:latin typeface="Arial"/>
              <a:cs typeface="Arial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343400" y="5490972"/>
            <a:ext cx="118872" cy="1188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581144" y="544068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6B10"/>
                </a:solidFill>
                <a:latin typeface="Arial"/>
                <a:cs typeface="Arial"/>
              </a:rPr>
              <a:t>GOVERNANCE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581144" y="571500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Board Advisor — HOW Foundation; Ruff 'n' Tumble, Nigeria's premier kids fashion brand</a:t>
            </a:r>
            <a:endParaRPr lang="en-US" sz="1150" dirty="0">
              <a:latin typeface="Arial"/>
              <a:cs typeface="Arial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211312" y="3204972"/>
            <a:ext cx="118872" cy="1188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49056" y="315468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6B10"/>
                </a:solidFill>
                <a:latin typeface="Arial"/>
                <a:cs typeface="Arial"/>
              </a:rPr>
              <a:t>ENTERPRISE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49056" y="342900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Co-founder, Kryptr — employability startup building the infrastructure behind Africa's largest graduate training programme</a:t>
            </a:r>
            <a:endParaRPr lang="en-US" sz="1150" dirty="0">
              <a:latin typeface="Arial"/>
              <a:cs typeface="Arial"/>
            </a:endParaRPr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Former Mastercard Foundation EdTech Fellow (Africa)</a:t>
            </a:r>
            <a:endParaRPr lang="en-US" sz="1150" dirty="0">
              <a:latin typeface="Arial"/>
              <a:cs typeface="Arial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211312" y="4759452"/>
            <a:ext cx="118872" cy="118872"/>
          </a:xfrm>
          <a:prstGeom prst="ellipse">
            <a:avLst/>
          </a:prstGeom>
          <a:solidFill>
            <a:srgbClr val="E9A13B"/>
          </a:solidFill>
          <a:ln w="12700">
            <a:solidFill>
              <a:srgbClr val="E9A13B"/>
            </a:solidFill>
            <a:prstDash val="solid"/>
          </a:ln>
        </p:spPr>
        <p:txBody>
          <a:bodyPr/>
          <a:lstStyle/>
          <a:p>
            <a:endParaRPr lang="en-NG">
              <a:latin typeface="Arial"/>
              <a:cs typeface="Arial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49056" y="4709160"/>
            <a:ext cx="3282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A96B10"/>
                </a:solidFill>
                <a:latin typeface="Arial"/>
                <a:cs typeface="Arial"/>
              </a:rPr>
              <a:t>PLATFORM</a:t>
            </a:r>
            <a:endParaRPr lang="en-US" sz="1050" dirty="0">
              <a:latin typeface="Arial"/>
              <a:cs typeface="Arial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49056" y="4983480"/>
            <a:ext cx="328269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Public speaker and training expert</a:t>
            </a:r>
            <a:endParaRPr lang="en-US" sz="1150" dirty="0">
              <a:latin typeface="Arial"/>
              <a:cs typeface="Arial"/>
            </a:endParaRPr>
          </a:p>
          <a:p>
            <a:pPr marL="152400" indent="-152400">
              <a:lnSpc>
                <a:spcPct val="112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F4A47"/>
                </a:solidFill>
                <a:latin typeface="Arial"/>
                <a:cs typeface="Arial"/>
              </a:rPr>
              <a:t>Signature programmes: Macroeconomics for Dummies · Critical Thinking &amp; Problem Solving</a:t>
            </a:r>
            <a:endParaRPr lang="en-US" sz="1150" dirty="0">
              <a:latin typeface="Arial"/>
              <a:cs typeface="Arial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AF2A994-1027-348D-DE4E-B5D2F2F7F9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1866900"/>
            <a:ext cx="2717800" cy="31242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48CFF525-92D8-48FA-A1A9-DD0889A2C6BB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53949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CFACE491-CB3A-47A1-91DE-6588CCB5080E}"/>
              </a:ext>
            </a:extLst>
          </p:cNvPr>
          <p:cNvSpPr/>
          <p:nvPr/>
        </p:nvSpPr>
        <p:spPr>
          <a:xfrm>
            <a:off x="8229600" y="0"/>
            <a:ext cx="3962400" cy="68580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62091C3-213D-4B7C-AC66-E53E040FBF41}"/>
              </a:ext>
            </a:extLst>
          </p:cNvPr>
          <p:cNvSpPr/>
          <p:nvPr/>
        </p:nvSpPr>
        <p:spPr>
          <a:xfrm>
            <a:off x="8128000" y="0"/>
            <a:ext cx="101600" cy="685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28F875A-038E-4667-90D6-FADA4D9A745A}"/>
              </a:ext>
            </a:extLst>
          </p:cNvPr>
          <p:cNvSpPr txBox="1"/>
          <p:nvPr/>
        </p:nvSpPr>
        <p:spPr>
          <a:xfrm>
            <a:off x="914400" y="914400"/>
            <a:ext cx="63500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5400" b="1" dirty="0">
                <a:solidFill>
                  <a:srgbClr val="E9A13B"/>
                </a:solidFill>
                <a:latin typeface="Arial"/>
                <a:cs typeface="Arial"/>
              </a:rPr>
              <a:t>Agenda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21C574-01E7-476D-B083-A9832C424D36}"/>
              </a:ext>
            </a:extLst>
          </p:cNvPr>
          <p:cNvSpPr txBox="1"/>
          <p:nvPr/>
        </p:nvSpPr>
        <p:spPr>
          <a:xfrm>
            <a:off x="914400" y="1854200"/>
            <a:ext cx="635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2000" dirty="0">
                <a:solidFill>
                  <a:srgbClr val="3F4A47"/>
                </a:solidFill>
                <a:latin typeface="Arial"/>
                <a:cs typeface="Arial"/>
              </a:rPr>
              <a:t>Three parts to this session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08C9D7D-74FD-4688-9180-ACA180C5FBB6}"/>
              </a:ext>
            </a:extLst>
          </p:cNvPr>
          <p:cNvSpPr/>
          <p:nvPr/>
        </p:nvSpPr>
        <p:spPr>
          <a:xfrm>
            <a:off x="914400" y="2489200"/>
            <a:ext cx="6604000" cy="12700"/>
          </a:xfrm>
          <a:prstGeom prst="rect">
            <a:avLst/>
          </a:prstGeom>
          <a:solidFill>
            <a:srgbClr val="C9D2C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11A8908-81D4-438C-8C53-DDD4473968F3}"/>
              </a:ext>
            </a:extLst>
          </p:cNvPr>
          <p:cNvSpPr txBox="1"/>
          <p:nvPr/>
        </p:nvSpPr>
        <p:spPr>
          <a:xfrm>
            <a:off x="914400" y="2895600"/>
            <a:ext cx="114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4000" b="1" dirty="0">
                <a:solidFill>
                  <a:srgbClr val="10312B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016B40C-F991-4430-A083-A043A9B9DD55}"/>
              </a:ext>
            </a:extLst>
          </p:cNvPr>
          <p:cNvSpPr txBox="1"/>
          <p:nvPr/>
        </p:nvSpPr>
        <p:spPr>
          <a:xfrm>
            <a:off x="2133600" y="29210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Enterprise Types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736458-2C4C-4366-93B1-82DE53CB855E}"/>
              </a:ext>
            </a:extLst>
          </p:cNvPr>
          <p:cNvSpPr txBox="1"/>
          <p:nvPr/>
        </p:nvSpPr>
        <p:spPr>
          <a:xfrm>
            <a:off x="2133600" y="33274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six vehicles, and what each one costs you.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8CBA6C5-2BD1-48E5-A808-CE75B1166181}"/>
              </a:ext>
            </a:extLst>
          </p:cNvPr>
          <p:cNvSpPr txBox="1"/>
          <p:nvPr/>
        </p:nvSpPr>
        <p:spPr>
          <a:xfrm>
            <a:off x="914400" y="4140200"/>
            <a:ext cx="114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4000" b="1" dirty="0">
                <a:solidFill>
                  <a:srgbClr val="10312B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F877DD-F1BB-4679-87F2-F88432B033E7}"/>
              </a:ext>
            </a:extLst>
          </p:cNvPr>
          <p:cNvSpPr txBox="1"/>
          <p:nvPr/>
        </p:nvSpPr>
        <p:spPr>
          <a:xfrm>
            <a:off x="2133600" y="41656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Some Fundamentals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95A6FDC-5E79-4683-8937-1078F2218B4C}"/>
              </a:ext>
            </a:extLst>
          </p:cNvPr>
          <p:cNvSpPr txBox="1"/>
          <p:nvPr/>
        </p:nvSpPr>
        <p:spPr>
          <a:xfrm>
            <a:off x="2133600" y="45720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Ten things that decide whether the thing survives.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106F243-223A-4991-B58F-CF7554B7F94A}"/>
              </a:ext>
            </a:extLst>
          </p:cNvPr>
          <p:cNvSpPr txBox="1"/>
          <p:nvPr/>
        </p:nvSpPr>
        <p:spPr>
          <a:xfrm>
            <a:off x="914400" y="5384800"/>
            <a:ext cx="1143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4000" b="1" dirty="0">
                <a:solidFill>
                  <a:srgbClr val="10312B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C3A88EC-73E5-4CE8-A5F6-38D4E2D7105E}"/>
              </a:ext>
            </a:extLst>
          </p:cNvPr>
          <p:cNvSpPr txBox="1"/>
          <p:nvPr/>
        </p:nvSpPr>
        <p:spPr>
          <a:xfrm>
            <a:off x="2133600" y="5410200"/>
            <a:ext cx="5334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My Personal Counsel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6843F0-C40A-4A48-8EF5-DCF95459E556}"/>
              </a:ext>
            </a:extLst>
          </p:cNvPr>
          <p:cNvSpPr txBox="1"/>
          <p:nvPr/>
        </p:nvSpPr>
        <p:spPr>
          <a:xfrm>
            <a:off x="2133600" y="5816600"/>
            <a:ext cx="5334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What I would tell you if we were sitting alone.</a:t>
            </a:r>
          </a:p>
        </p:txBody>
      </p:sp>
    </p:spTree>
    <p:extLst>
      <p:ext uri="{BB962C8B-B14F-4D97-AF65-F5344CB8AC3E}">
        <p14:creationId xmlns:p14="http://schemas.microsoft.com/office/powerpoint/2010/main" val="1790219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1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84616A2-A37B-40B8-9F8E-D64F9AAD36E5}"/>
              </a:ext>
            </a:extLst>
          </p:cNvPr>
          <p:cNvSpPr/>
          <p:nvPr/>
        </p:nvSpPr>
        <p:spPr>
          <a:xfrm rot="-2700000">
            <a:off x="8382000" y="-2540000"/>
            <a:ext cx="203200" cy="1066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152CC-E0E9-4EDB-88D9-D5737AF1DA0A}"/>
              </a:ext>
            </a:extLst>
          </p:cNvPr>
          <p:cNvSpPr/>
          <p:nvPr/>
        </p:nvSpPr>
        <p:spPr>
          <a:xfrm rot="-2700000">
            <a:off x="8890000" y="-3175000"/>
            <a:ext cx="2159000" cy="11430000"/>
          </a:xfrm>
          <a:prstGeom prst="rect">
            <a:avLst/>
          </a:prstGeom>
          <a:solidFill>
            <a:srgbClr val="1A4A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893CA-D088-4F66-8251-EF87FCB73511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8CD93-1196-4EBE-B740-CB53E661F0F3}"/>
              </a:ext>
            </a:extLst>
          </p:cNvPr>
          <p:cNvSpPr txBox="1"/>
          <p:nvPr/>
        </p:nvSpPr>
        <p:spPr>
          <a:xfrm>
            <a:off x="914400" y="29464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SECTION ONE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419AC-F2F1-4B7A-A7C3-3451E05BC024}"/>
              </a:ext>
            </a:extLst>
          </p:cNvPr>
          <p:cNvSpPr txBox="1"/>
          <p:nvPr/>
        </p:nvSpPr>
        <p:spPr>
          <a:xfrm>
            <a:off x="914400" y="3327400"/>
            <a:ext cx="71120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5400" b="1" dirty="0">
                <a:solidFill>
                  <a:srgbClr val="FFFFFF"/>
                </a:solidFill>
                <a:latin typeface="Arial"/>
                <a:cs typeface="Arial"/>
              </a:rPr>
              <a:t>Enterprise Types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EC7D42-5245-42D5-B722-896A90330520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A9C4BB"/>
                </a:solidFill>
                <a:latin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29832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16CE6A-AE8A-433A-8014-6856A9ED92B8}"/>
              </a:ext>
            </a:extLst>
          </p:cNvPr>
          <p:cNvSpPr/>
          <p:nvPr/>
        </p:nvSpPr>
        <p:spPr>
          <a:xfrm>
            <a:off x="914400" y="508000"/>
            <a:ext cx="7112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4DECA-535C-463C-A67E-0660615DAC5D}"/>
              </a:ext>
            </a:extLst>
          </p:cNvPr>
          <p:cNvSpPr txBox="1"/>
          <p:nvPr/>
        </p:nvSpPr>
        <p:spPr>
          <a:xfrm>
            <a:off x="914400" y="635000"/>
            <a:ext cx="9652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Types of Entities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F154B-30C5-4672-B10B-D887141F6239}"/>
              </a:ext>
            </a:extLst>
          </p:cNvPr>
          <p:cNvSpPr txBox="1"/>
          <p:nvPr/>
        </p:nvSpPr>
        <p:spPr>
          <a:xfrm>
            <a:off x="914400" y="1193800"/>
            <a:ext cx="1036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3F4A47"/>
                </a:solidFill>
                <a:latin typeface="Arial"/>
                <a:cs typeface="Arial"/>
              </a:rPr>
              <a:t>For the sake of an entrepreneur's journey, I will classify all business endeavours into six categories.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F7798E-1073-4481-B2DF-8FFFCD5DD085}"/>
              </a:ext>
            </a:extLst>
          </p:cNvPr>
          <p:cNvSpPr/>
          <p:nvPr/>
        </p:nvSpPr>
        <p:spPr>
          <a:xfrm>
            <a:off x="914400" y="2307599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8DDB9-53E3-4A00-8F14-2A3E7835E633}"/>
              </a:ext>
            </a:extLst>
          </p:cNvPr>
          <p:cNvSpPr/>
          <p:nvPr/>
        </p:nvSpPr>
        <p:spPr>
          <a:xfrm>
            <a:off x="914400" y="2307599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481F58-5188-4CAC-AAE3-6798E8456E13}"/>
              </a:ext>
            </a:extLst>
          </p:cNvPr>
          <p:cNvSpPr txBox="1"/>
          <p:nvPr/>
        </p:nvSpPr>
        <p:spPr>
          <a:xfrm>
            <a:off x="1168400" y="2409199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B09B6E-8A9F-407B-88E3-DD457BCDB229}"/>
              </a:ext>
            </a:extLst>
          </p:cNvPr>
          <p:cNvSpPr txBox="1"/>
          <p:nvPr/>
        </p:nvSpPr>
        <p:spPr>
          <a:xfrm>
            <a:off x="1168400" y="261239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MSME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0E2C11-05C4-44F1-B383-9AB3ED25ABB8}"/>
              </a:ext>
            </a:extLst>
          </p:cNvPr>
          <p:cNvSpPr txBox="1"/>
          <p:nvPr/>
        </p:nvSpPr>
        <p:spPr>
          <a:xfrm>
            <a:off x="1168400" y="299339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 neighbourhood bakery.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5B9306-02A0-4A04-8C63-9B78E5903EF7}"/>
              </a:ext>
            </a:extLst>
          </p:cNvPr>
          <p:cNvSpPr/>
          <p:nvPr/>
        </p:nvSpPr>
        <p:spPr>
          <a:xfrm>
            <a:off x="6248400" y="2307599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17D5CB-149A-48EB-9108-F340BB932DBE}"/>
              </a:ext>
            </a:extLst>
          </p:cNvPr>
          <p:cNvSpPr/>
          <p:nvPr/>
        </p:nvSpPr>
        <p:spPr>
          <a:xfrm>
            <a:off x="5333997" y="2307599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7ECEF-C49C-48E2-8843-FD8EBFC4EA49}"/>
              </a:ext>
            </a:extLst>
          </p:cNvPr>
          <p:cNvSpPr txBox="1"/>
          <p:nvPr/>
        </p:nvSpPr>
        <p:spPr>
          <a:xfrm>
            <a:off x="5587997" y="2409199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0BC121-262A-4159-ADE8-94C99238E24F}"/>
              </a:ext>
            </a:extLst>
          </p:cNvPr>
          <p:cNvSpPr txBox="1"/>
          <p:nvPr/>
        </p:nvSpPr>
        <p:spPr>
          <a:xfrm>
            <a:off x="5587997" y="261239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Start-up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D076BA-FF55-4A04-81BE-4A3B416E1671}"/>
              </a:ext>
            </a:extLst>
          </p:cNvPr>
          <p:cNvSpPr txBox="1"/>
          <p:nvPr/>
        </p:nvSpPr>
        <p:spPr>
          <a:xfrm>
            <a:off x="5587997" y="299339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 mobile payments application.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44A6E54-AA0A-4A48-A8BD-CC6C6587C0E4}"/>
              </a:ext>
            </a:extLst>
          </p:cNvPr>
          <p:cNvSpPr/>
          <p:nvPr/>
        </p:nvSpPr>
        <p:spPr>
          <a:xfrm>
            <a:off x="914400" y="3646205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AE208C3-290B-4F9A-B053-1B619D10E05F}"/>
              </a:ext>
            </a:extLst>
          </p:cNvPr>
          <p:cNvSpPr/>
          <p:nvPr/>
        </p:nvSpPr>
        <p:spPr>
          <a:xfrm>
            <a:off x="914400" y="3646205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A5D8C4-026F-4028-9C2D-4279F1074AE8}"/>
              </a:ext>
            </a:extLst>
          </p:cNvPr>
          <p:cNvSpPr txBox="1"/>
          <p:nvPr/>
        </p:nvSpPr>
        <p:spPr>
          <a:xfrm>
            <a:off x="1168400" y="3747805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1DBC2DA-4575-4F1E-9646-9EDE1A193D6A}"/>
              </a:ext>
            </a:extLst>
          </p:cNvPr>
          <p:cNvSpPr txBox="1"/>
          <p:nvPr/>
        </p:nvSpPr>
        <p:spPr>
          <a:xfrm>
            <a:off x="1168400" y="3951005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Professional Service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77F168A-A6FF-4F84-9CF9-9F48CBC322AA}"/>
              </a:ext>
            </a:extLst>
          </p:cNvPr>
          <p:cNvSpPr txBox="1"/>
          <p:nvPr/>
        </p:nvSpPr>
        <p:spPr>
          <a:xfrm>
            <a:off x="1168400" y="4332005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 dental clinic.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6C10F59-3A12-4C1E-BE5A-2B1800F44E6A}"/>
              </a:ext>
            </a:extLst>
          </p:cNvPr>
          <p:cNvSpPr/>
          <p:nvPr/>
        </p:nvSpPr>
        <p:spPr>
          <a:xfrm>
            <a:off x="6248400" y="3646205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C943341-7DF6-483D-8CAB-D26053F3DC72}"/>
              </a:ext>
            </a:extLst>
          </p:cNvPr>
          <p:cNvSpPr/>
          <p:nvPr/>
        </p:nvSpPr>
        <p:spPr>
          <a:xfrm>
            <a:off x="5333997" y="3646205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6DCF9A9-7179-4238-8797-115C675D5AF1}"/>
              </a:ext>
            </a:extLst>
          </p:cNvPr>
          <p:cNvSpPr txBox="1"/>
          <p:nvPr/>
        </p:nvSpPr>
        <p:spPr>
          <a:xfrm>
            <a:off x="5587997" y="3747805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7E9F57-8D2C-4E93-9B6B-C34C8D3DD34D}"/>
              </a:ext>
            </a:extLst>
          </p:cNvPr>
          <p:cNvSpPr txBox="1"/>
          <p:nvPr/>
        </p:nvSpPr>
        <p:spPr>
          <a:xfrm>
            <a:off x="5587997" y="3951005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Development Organisation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ABC5957-755D-4350-8185-9FC485E140A7}"/>
              </a:ext>
            </a:extLst>
          </p:cNvPr>
          <p:cNvSpPr txBox="1"/>
          <p:nvPr/>
        </p:nvSpPr>
        <p:spPr>
          <a:xfrm>
            <a:off x="5587997" y="4332005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US" sz="1800" dirty="0">
                <a:solidFill>
                  <a:srgbClr val="4C5A56"/>
                </a:solidFill>
                <a:latin typeface="Arial"/>
                <a:cs typeface="Arial"/>
              </a:rPr>
              <a:t>Youth empowerment organisation </a:t>
            </a:r>
            <a:endParaRPr lang="en-NG" sz="1800" dirty="0">
              <a:solidFill>
                <a:srgbClr val="4C5A56"/>
              </a:solidFill>
              <a:latin typeface="Arial"/>
              <a:cs typeface="Arial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53D7618-4CEB-46B0-9D5D-AABED896E588}"/>
              </a:ext>
            </a:extLst>
          </p:cNvPr>
          <p:cNvSpPr/>
          <p:nvPr/>
        </p:nvSpPr>
        <p:spPr>
          <a:xfrm>
            <a:off x="914400" y="5010449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9DDBF37-B5E1-4686-8985-5D55330DF947}"/>
              </a:ext>
            </a:extLst>
          </p:cNvPr>
          <p:cNvSpPr/>
          <p:nvPr/>
        </p:nvSpPr>
        <p:spPr>
          <a:xfrm>
            <a:off x="914400" y="5010449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650CB30-69E5-417D-AAD3-51EF00F3BDE6}"/>
              </a:ext>
            </a:extLst>
          </p:cNvPr>
          <p:cNvSpPr txBox="1"/>
          <p:nvPr/>
        </p:nvSpPr>
        <p:spPr>
          <a:xfrm>
            <a:off x="1168400" y="5112049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39B7335-A3D8-4E31-BA26-8DD9E6F6109B}"/>
              </a:ext>
            </a:extLst>
          </p:cNvPr>
          <p:cNvSpPr txBox="1"/>
          <p:nvPr/>
        </p:nvSpPr>
        <p:spPr>
          <a:xfrm>
            <a:off x="1168400" y="531524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Corporate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962469B-F294-429E-A6A6-7513C326EF2F}"/>
              </a:ext>
            </a:extLst>
          </p:cNvPr>
          <p:cNvSpPr txBox="1"/>
          <p:nvPr/>
        </p:nvSpPr>
        <p:spPr>
          <a:xfrm>
            <a:off x="1168400" y="569624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 listed cement manufacturer.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58E461-0454-438D-A05E-5D049C688117}"/>
              </a:ext>
            </a:extLst>
          </p:cNvPr>
          <p:cNvSpPr/>
          <p:nvPr/>
        </p:nvSpPr>
        <p:spPr>
          <a:xfrm>
            <a:off x="6248400" y="5010449"/>
            <a:ext cx="5029200" cy="114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7D6E4F-96D5-43BB-8AC2-43F6AD52D66F}"/>
              </a:ext>
            </a:extLst>
          </p:cNvPr>
          <p:cNvSpPr/>
          <p:nvPr/>
        </p:nvSpPr>
        <p:spPr>
          <a:xfrm>
            <a:off x="5333997" y="5010449"/>
            <a:ext cx="50800" cy="1143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DE0F8E0-E80B-44AF-A315-3282BF2AE905}"/>
              </a:ext>
            </a:extLst>
          </p:cNvPr>
          <p:cNvSpPr txBox="1"/>
          <p:nvPr/>
        </p:nvSpPr>
        <p:spPr>
          <a:xfrm>
            <a:off x="5587997" y="5112049"/>
            <a:ext cx="50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dirty="0">
                <a:solidFill>
                  <a:srgbClr val="E9A13B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8AD2DA5-C49A-4FF4-9EA7-C92AB6019859}"/>
              </a:ext>
            </a:extLst>
          </p:cNvPr>
          <p:cNvSpPr txBox="1"/>
          <p:nvPr/>
        </p:nvSpPr>
        <p:spPr>
          <a:xfrm>
            <a:off x="5587997" y="531524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Public Sector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F47D4DB-472C-48E5-9C01-D8851C469BD1}"/>
              </a:ext>
            </a:extLst>
          </p:cNvPr>
          <p:cNvSpPr txBox="1"/>
          <p:nvPr/>
        </p:nvSpPr>
        <p:spPr>
          <a:xfrm>
            <a:off x="5587997" y="5696249"/>
            <a:ext cx="4521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 state ministry of commerce.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C813261-495F-4CED-8442-4A95AE23F820}"/>
              </a:ext>
            </a:extLst>
          </p:cNvPr>
          <p:cNvSpPr txBox="1"/>
          <p:nvPr/>
        </p:nvSpPr>
        <p:spPr>
          <a:xfrm>
            <a:off x="914400" y="62738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800" b="1" dirty="0">
                <a:solidFill>
                  <a:srgbClr val="FF0000"/>
                </a:solidFill>
                <a:latin typeface="Arial"/>
                <a:cs typeface="Arial"/>
              </a:rPr>
              <a:t>My focus in this session: MSME, Start-up and Professional Service.</a:t>
            </a:r>
          </a:p>
        </p:txBody>
      </p:sp>
      <p:sp>
        <p:nvSpPr>
          <p:cNvPr id="37" name="Arrow: Pentagon 36">
            <a:extLst>
              <a:ext uri="{FF2B5EF4-FFF2-40B4-BE49-F238E27FC236}">
                <a16:creationId xmlns:a16="http://schemas.microsoft.com/office/drawing/2014/main" id="{7688DEB6-AD5C-9026-B349-3682C576851D}"/>
              </a:ext>
            </a:extLst>
          </p:cNvPr>
          <p:cNvSpPr/>
          <p:nvPr/>
        </p:nvSpPr>
        <p:spPr>
          <a:xfrm>
            <a:off x="529839" y="2108200"/>
            <a:ext cx="9154445" cy="2775249"/>
          </a:xfrm>
          <a:prstGeom prst="homePlate">
            <a:avLst>
              <a:gd name="adj" fmla="val 9053"/>
            </a:avLst>
          </a:prstGeom>
          <a:noFill/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G"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8AE4B61-10E5-BA12-89D0-C27C54DB3BB8}"/>
              </a:ext>
            </a:extLst>
          </p:cNvPr>
          <p:cNvGrpSpPr/>
          <p:nvPr/>
        </p:nvGrpSpPr>
        <p:grpSpPr>
          <a:xfrm>
            <a:off x="9855197" y="2226892"/>
            <a:ext cx="2066186" cy="2452405"/>
            <a:chOff x="9855197" y="2226892"/>
            <a:chExt cx="2066186" cy="2452405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FF599AD-473F-8725-546E-6D0140922CC9}"/>
                </a:ext>
              </a:extLst>
            </p:cNvPr>
            <p:cNvSpPr txBox="1"/>
            <p:nvPr/>
          </p:nvSpPr>
          <p:spPr>
            <a:xfrm>
              <a:off x="9929143" y="3208143"/>
              <a:ext cx="180340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Where most of us operate </a:t>
              </a:r>
              <a:endParaRPr lang="en-NG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BB53FDEC-FBA4-FC74-EA0F-FB820B47940E}"/>
                </a:ext>
              </a:extLst>
            </p:cNvPr>
            <p:cNvSpPr/>
            <p:nvPr/>
          </p:nvSpPr>
          <p:spPr>
            <a:xfrm>
              <a:off x="9855197" y="2226892"/>
              <a:ext cx="2066186" cy="2452405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G"/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D51F1E3A-F0C6-4A3B-BB14-93E24E76758A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191824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4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977039-9022-4382-BCA0-27F230A1D90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EDEAF7-A281-42BA-A072-32CFEE519006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C1268-B5B6-4C0D-A2F2-DE0853A1067C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DIAGNOSIS 01   ·   MICRO, SMALL AND MEDIUM ENTERPRISE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B7F29-AE78-4633-9D7B-41A89E34692C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MSME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82B4E-EEC1-4B03-A2EC-0AAD7B7090F2}"/>
              </a:ext>
            </a:extLst>
          </p:cNvPr>
          <p:cNvSpPr txBox="1"/>
          <p:nvPr/>
        </p:nvSpPr>
        <p:spPr>
          <a:xfrm>
            <a:off x="1168400" y="1651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3F4A47"/>
                </a:solidFill>
                <a:latin typeface="Arial"/>
                <a:cs typeface="Arial"/>
              </a:rPr>
              <a:t>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286DE-A2F3-4910-A378-EC28D5AC617D}"/>
              </a:ext>
            </a:extLst>
          </p:cNvPr>
          <p:cNvSpPr txBox="1"/>
          <p:nvPr/>
        </p:nvSpPr>
        <p:spPr>
          <a:xfrm>
            <a:off x="3962400" y="165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2E7D4F"/>
                </a:solidFill>
                <a:latin typeface="Arial"/>
                <a:cs typeface="Arial"/>
              </a:rPr>
              <a:t>THE UPSIDE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7B22D-F270-4346-AD57-59B343349C07}"/>
              </a:ext>
            </a:extLst>
          </p:cNvPr>
          <p:cNvSpPr txBox="1"/>
          <p:nvPr/>
        </p:nvSpPr>
        <p:spPr>
          <a:xfrm>
            <a:off x="7620000" y="1651000"/>
            <a:ext cx="3454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A2432F"/>
                </a:solidFill>
                <a:latin typeface="Arial"/>
                <a:cs typeface="Arial"/>
              </a:rPr>
              <a:t>THE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F6C45-5978-4129-A56E-73EC76945EFB}"/>
              </a:ext>
            </a:extLst>
          </p:cNvPr>
          <p:cNvSpPr/>
          <p:nvPr/>
        </p:nvSpPr>
        <p:spPr>
          <a:xfrm>
            <a:off x="914400" y="19812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F3556-0F4B-4C8B-8C6D-149553B175AA}"/>
              </a:ext>
            </a:extLst>
          </p:cNvPr>
          <p:cNvSpPr txBox="1"/>
          <p:nvPr/>
        </p:nvSpPr>
        <p:spPr>
          <a:xfrm>
            <a:off x="1168400" y="20828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DB122-FC16-4494-A5C3-CADFE56A121F}"/>
              </a:ext>
            </a:extLst>
          </p:cNvPr>
          <p:cNvSpPr txBox="1"/>
          <p:nvPr/>
        </p:nvSpPr>
        <p:spPr>
          <a:xfrm>
            <a:off x="3962400" y="20828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Low pressure. You set the pace yourself.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F7F71-D77B-42E8-8D6C-BC1518A5E729}"/>
              </a:ext>
            </a:extLst>
          </p:cNvPr>
          <p:cNvSpPr txBox="1"/>
          <p:nvPr/>
        </p:nvSpPr>
        <p:spPr>
          <a:xfrm>
            <a:off x="7620000" y="20828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Easy to drift and never leave.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6FF8B-2037-49EF-AD2B-C6FA9561B0EA}"/>
              </a:ext>
            </a:extLst>
          </p:cNvPr>
          <p:cNvSpPr/>
          <p:nvPr/>
        </p:nvSpPr>
        <p:spPr>
          <a:xfrm>
            <a:off x="914400" y="28194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062B7-F0D0-43AE-B572-1D68FF1445C3}"/>
              </a:ext>
            </a:extLst>
          </p:cNvPr>
          <p:cNvSpPr txBox="1"/>
          <p:nvPr/>
        </p:nvSpPr>
        <p:spPr>
          <a:xfrm>
            <a:off x="1168400" y="29210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Funding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0321-93D0-4758-A3DB-DDF7011CC5AA}"/>
              </a:ext>
            </a:extLst>
          </p:cNvPr>
          <p:cNvSpPr txBox="1"/>
          <p:nvPr/>
        </p:nvSpPr>
        <p:spPr>
          <a:xfrm>
            <a:off x="3962400" y="29210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Your own money, so nobody sets deadlines.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7F5C2-E1A2-4800-AA5D-2AD3B90C2E8E}"/>
              </a:ext>
            </a:extLst>
          </p:cNvPr>
          <p:cNvSpPr txBox="1"/>
          <p:nvPr/>
        </p:nvSpPr>
        <p:spPr>
          <a:xfrm>
            <a:off x="7620000" y="29210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Growth is capped by your own pocket.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D284CC-8FC3-499C-AC3B-CFC07E31C9BB}"/>
              </a:ext>
            </a:extLst>
          </p:cNvPr>
          <p:cNvSpPr/>
          <p:nvPr/>
        </p:nvSpPr>
        <p:spPr>
          <a:xfrm>
            <a:off x="914400" y="36576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AD45C-DA16-4C3F-A48B-C19DAF34C6F6}"/>
              </a:ext>
            </a:extLst>
          </p:cNvPr>
          <p:cNvSpPr txBox="1"/>
          <p:nvPr/>
        </p:nvSpPr>
        <p:spPr>
          <a:xfrm>
            <a:off x="1168400" y="3759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CFA47-0BD3-4DB0-885B-25513C1AF629}"/>
              </a:ext>
            </a:extLst>
          </p:cNvPr>
          <p:cNvSpPr txBox="1"/>
          <p:nvPr/>
        </p:nvSpPr>
        <p:spPr>
          <a:xfrm>
            <a:off x="3962400" y="37592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Proximity or a licence can lock rivals out.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9C2A2-3E17-4468-8BC1-C920D1D23E9A}"/>
              </a:ext>
            </a:extLst>
          </p:cNvPr>
          <p:cNvSpPr txBox="1"/>
          <p:nvPr/>
        </p:nvSpPr>
        <p:spPr>
          <a:xfrm>
            <a:off x="7620000" y="37592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red ocean the day that access goes.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94B3-D22E-4F39-B20F-050B42B2396C}"/>
              </a:ext>
            </a:extLst>
          </p:cNvPr>
          <p:cNvSpPr/>
          <p:nvPr/>
        </p:nvSpPr>
        <p:spPr>
          <a:xfrm>
            <a:off x="914400" y="44958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5B96C-5844-425A-9544-8CFF77C2E00F}"/>
              </a:ext>
            </a:extLst>
          </p:cNvPr>
          <p:cNvSpPr txBox="1"/>
          <p:nvPr/>
        </p:nvSpPr>
        <p:spPr>
          <a:xfrm>
            <a:off x="1168400" y="45974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Business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83147-DFAA-4951-A5AC-AE4E61B06099}"/>
              </a:ext>
            </a:extLst>
          </p:cNvPr>
          <p:cNvSpPr txBox="1"/>
          <p:nvPr/>
        </p:nvSpPr>
        <p:spPr>
          <a:xfrm>
            <a:off x="3962400" y="45974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can choose value or volume.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BCB91-C7B5-427F-B5C7-42E3EB6565D7}"/>
              </a:ext>
            </a:extLst>
          </p:cNvPr>
          <p:cNvSpPr txBox="1"/>
          <p:nvPr/>
        </p:nvSpPr>
        <p:spPr>
          <a:xfrm>
            <a:off x="7620000" y="45974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Family pricing keeps you stunted.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2D973-B75E-4EB4-B2FB-69EC0D2AFC48}"/>
              </a:ext>
            </a:extLst>
          </p:cNvPr>
          <p:cNvSpPr/>
          <p:nvPr/>
        </p:nvSpPr>
        <p:spPr>
          <a:xfrm>
            <a:off x="914400" y="53340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98402-B926-449B-BBF8-2C04A1FD47CF}"/>
              </a:ext>
            </a:extLst>
          </p:cNvPr>
          <p:cNvSpPr txBox="1"/>
          <p:nvPr/>
        </p:nvSpPr>
        <p:spPr>
          <a:xfrm>
            <a:off x="1168400" y="54356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Exit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5B7749-AA17-433F-BF3E-E4C8EB5D4760}"/>
              </a:ext>
            </a:extLst>
          </p:cNvPr>
          <p:cNvSpPr txBox="1"/>
          <p:nvPr/>
        </p:nvSpPr>
        <p:spPr>
          <a:xfrm>
            <a:off x="3962400" y="54356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Quiet incubation can attract a buyer.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16C6FD-6FF6-4D34-A208-4C4C7CF27A04}"/>
              </a:ext>
            </a:extLst>
          </p:cNvPr>
          <p:cNvSpPr txBox="1"/>
          <p:nvPr/>
        </p:nvSpPr>
        <p:spPr>
          <a:xfrm>
            <a:off x="7620000" y="5435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No records means no valuation, no sale.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EC6CAB-69DF-4C14-A7D6-9831D0BB3F01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472741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977039-9022-4382-BCA0-27F230A1D90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EDEAF7-A281-42BA-A072-32CFEE519006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C1268-B5B6-4C0D-A2F2-DE0853A1067C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DIAGNOSIS 02   ·   BUILT TO SCALE, BUILT TO SELL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B7F29-AE78-4633-9D7B-41A89E34692C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Start-up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82B4E-EEC1-4B03-A2EC-0AAD7B7090F2}"/>
              </a:ext>
            </a:extLst>
          </p:cNvPr>
          <p:cNvSpPr txBox="1"/>
          <p:nvPr/>
        </p:nvSpPr>
        <p:spPr>
          <a:xfrm>
            <a:off x="1168400" y="1651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3F4A47"/>
                </a:solidFill>
                <a:latin typeface="Arial"/>
                <a:cs typeface="Arial"/>
              </a:rPr>
              <a:t>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286DE-A2F3-4910-A378-EC28D5AC617D}"/>
              </a:ext>
            </a:extLst>
          </p:cNvPr>
          <p:cNvSpPr txBox="1"/>
          <p:nvPr/>
        </p:nvSpPr>
        <p:spPr>
          <a:xfrm>
            <a:off x="3962400" y="165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2E7D4F"/>
                </a:solidFill>
                <a:latin typeface="Arial"/>
                <a:cs typeface="Arial"/>
              </a:rPr>
              <a:t>THE UPSIDE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7B22D-F270-4346-AD57-59B343349C07}"/>
              </a:ext>
            </a:extLst>
          </p:cNvPr>
          <p:cNvSpPr txBox="1"/>
          <p:nvPr/>
        </p:nvSpPr>
        <p:spPr>
          <a:xfrm>
            <a:off x="7620000" y="1651000"/>
            <a:ext cx="3454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A2432F"/>
                </a:solidFill>
                <a:latin typeface="Arial"/>
                <a:cs typeface="Arial"/>
              </a:rPr>
              <a:t>THE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F6C45-5978-4129-A56E-73EC76945EFB}"/>
              </a:ext>
            </a:extLst>
          </p:cNvPr>
          <p:cNvSpPr/>
          <p:nvPr/>
        </p:nvSpPr>
        <p:spPr>
          <a:xfrm>
            <a:off x="914400" y="19812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F3556-0F4B-4C8B-8C6D-149553B175AA}"/>
              </a:ext>
            </a:extLst>
          </p:cNvPr>
          <p:cNvSpPr txBox="1"/>
          <p:nvPr/>
        </p:nvSpPr>
        <p:spPr>
          <a:xfrm>
            <a:off x="1168400" y="20828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DB122-FC16-4494-A5C3-CADFE56A121F}"/>
              </a:ext>
            </a:extLst>
          </p:cNvPr>
          <p:cNvSpPr txBox="1"/>
          <p:nvPr/>
        </p:nvSpPr>
        <p:spPr>
          <a:xfrm>
            <a:off x="3962400" y="20828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Built to be sold or listed one day.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F7F71-D77B-42E8-8D6C-BC1518A5E729}"/>
              </a:ext>
            </a:extLst>
          </p:cNvPr>
          <p:cNvSpPr txBox="1"/>
          <p:nvPr/>
        </p:nvSpPr>
        <p:spPr>
          <a:xfrm>
            <a:off x="7620000" y="20828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clock starts and never stops.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6FF8B-2037-49EF-AD2B-C6FA9561B0EA}"/>
              </a:ext>
            </a:extLst>
          </p:cNvPr>
          <p:cNvSpPr/>
          <p:nvPr/>
        </p:nvSpPr>
        <p:spPr>
          <a:xfrm>
            <a:off x="914400" y="28194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062B7-F0D0-43AE-B572-1D68FF1445C3}"/>
              </a:ext>
            </a:extLst>
          </p:cNvPr>
          <p:cNvSpPr txBox="1"/>
          <p:nvPr/>
        </p:nvSpPr>
        <p:spPr>
          <a:xfrm>
            <a:off x="1168400" y="29210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Funding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0321-93D0-4758-A3DB-DDF7011CC5AA}"/>
              </a:ext>
            </a:extLst>
          </p:cNvPr>
          <p:cNvSpPr txBox="1"/>
          <p:nvPr/>
        </p:nvSpPr>
        <p:spPr>
          <a:xfrm>
            <a:off x="3962400" y="29210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Other people's money buys you speed.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7F5C2-E1A2-4800-AA5D-2AD3B90C2E8E}"/>
              </a:ext>
            </a:extLst>
          </p:cNvPr>
          <p:cNvSpPr txBox="1"/>
          <p:nvPr/>
        </p:nvSpPr>
        <p:spPr>
          <a:xfrm>
            <a:off x="7620000" y="29210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own less each round, and can be removed.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D284CC-8FC3-499C-AC3B-CFC07E31C9BB}"/>
              </a:ext>
            </a:extLst>
          </p:cNvPr>
          <p:cNvSpPr/>
          <p:nvPr/>
        </p:nvSpPr>
        <p:spPr>
          <a:xfrm>
            <a:off x="914400" y="36576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AD45C-DA16-4C3F-A48B-C19DAF34C6F6}"/>
              </a:ext>
            </a:extLst>
          </p:cNvPr>
          <p:cNvSpPr txBox="1"/>
          <p:nvPr/>
        </p:nvSpPr>
        <p:spPr>
          <a:xfrm>
            <a:off x="1168400" y="3759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CFA47-0BD3-4DB0-885B-25513C1AF629}"/>
              </a:ext>
            </a:extLst>
          </p:cNvPr>
          <p:cNvSpPr txBox="1"/>
          <p:nvPr/>
        </p:nvSpPr>
        <p:spPr>
          <a:xfrm>
            <a:off x="3962400" y="37592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big market repays the risk you take.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9C2A2-3E17-4468-8BC1-C920D1D23E9A}"/>
              </a:ext>
            </a:extLst>
          </p:cNvPr>
          <p:cNvSpPr txBox="1"/>
          <p:nvPr/>
        </p:nvSpPr>
        <p:spPr>
          <a:xfrm>
            <a:off x="7620000" y="37592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Without product-market fit the money burns.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94B3-D22E-4F39-B20F-050B42B2396C}"/>
              </a:ext>
            </a:extLst>
          </p:cNvPr>
          <p:cNvSpPr/>
          <p:nvPr/>
        </p:nvSpPr>
        <p:spPr>
          <a:xfrm>
            <a:off x="914400" y="44958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5B96C-5844-425A-9544-8CFF77C2E00F}"/>
              </a:ext>
            </a:extLst>
          </p:cNvPr>
          <p:cNvSpPr txBox="1"/>
          <p:nvPr/>
        </p:nvSpPr>
        <p:spPr>
          <a:xfrm>
            <a:off x="1168400" y="45974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Business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83147-DFAA-4951-A5AC-AE4E61B06099}"/>
              </a:ext>
            </a:extLst>
          </p:cNvPr>
          <p:cNvSpPr txBox="1"/>
          <p:nvPr/>
        </p:nvSpPr>
        <p:spPr>
          <a:xfrm>
            <a:off x="3962400" y="45974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Margins and network effects compound.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BCB91-C7B5-427F-B5C7-42E3EB6565D7}"/>
              </a:ext>
            </a:extLst>
          </p:cNvPr>
          <p:cNvSpPr txBox="1"/>
          <p:nvPr/>
        </p:nvSpPr>
        <p:spPr>
          <a:xfrm>
            <a:off x="7620000" y="45974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Operations break before you are ready.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2D973-B75E-4EB4-B2FB-69EC0D2AFC48}"/>
              </a:ext>
            </a:extLst>
          </p:cNvPr>
          <p:cNvSpPr/>
          <p:nvPr/>
        </p:nvSpPr>
        <p:spPr>
          <a:xfrm>
            <a:off x="914400" y="53340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98402-B926-449B-BBF8-2C04A1FD47CF}"/>
              </a:ext>
            </a:extLst>
          </p:cNvPr>
          <p:cNvSpPr txBox="1"/>
          <p:nvPr/>
        </p:nvSpPr>
        <p:spPr>
          <a:xfrm>
            <a:off x="1168400" y="54356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Exit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5B7749-AA17-433F-BF3E-E4C8EB5D4760}"/>
              </a:ext>
            </a:extLst>
          </p:cNvPr>
          <p:cNvSpPr txBox="1"/>
          <p:nvPr/>
        </p:nvSpPr>
        <p:spPr>
          <a:xfrm>
            <a:off x="3962400" y="54356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Equity can pay far more than salary.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16C6FD-6FF6-4D34-A208-4C4C7CF27A04}"/>
              </a:ext>
            </a:extLst>
          </p:cNvPr>
          <p:cNvSpPr txBox="1"/>
          <p:nvPr/>
        </p:nvSpPr>
        <p:spPr>
          <a:xfrm>
            <a:off x="7620000" y="5435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Most do not make it, and the model expects it.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1A6E212-D113-447C-8B0A-8A48E68F9A69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42187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977039-9022-4382-BCA0-27F230A1D90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EDEAF7-A281-42BA-A072-32CFEE519006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C1268-B5B6-4C0D-A2F2-DE0853A1067C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DIAGNOSIS 03   ·   LICENSED, REGULATED, TECHNICAL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B7F29-AE78-4633-9D7B-41A89E34692C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Professional Service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82B4E-EEC1-4B03-A2EC-0AAD7B7090F2}"/>
              </a:ext>
            </a:extLst>
          </p:cNvPr>
          <p:cNvSpPr txBox="1"/>
          <p:nvPr/>
        </p:nvSpPr>
        <p:spPr>
          <a:xfrm>
            <a:off x="1168400" y="1651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3F4A47"/>
                </a:solidFill>
                <a:latin typeface="Arial"/>
                <a:cs typeface="Arial"/>
              </a:rPr>
              <a:t>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286DE-A2F3-4910-A378-EC28D5AC617D}"/>
              </a:ext>
            </a:extLst>
          </p:cNvPr>
          <p:cNvSpPr txBox="1"/>
          <p:nvPr/>
        </p:nvSpPr>
        <p:spPr>
          <a:xfrm>
            <a:off x="3962400" y="165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2E7D4F"/>
                </a:solidFill>
                <a:latin typeface="Arial"/>
                <a:cs typeface="Arial"/>
              </a:rPr>
              <a:t>THE UPSIDE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7B22D-F270-4346-AD57-59B343349C07}"/>
              </a:ext>
            </a:extLst>
          </p:cNvPr>
          <p:cNvSpPr txBox="1"/>
          <p:nvPr/>
        </p:nvSpPr>
        <p:spPr>
          <a:xfrm>
            <a:off x="7620000" y="1651000"/>
            <a:ext cx="3454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A2432F"/>
                </a:solidFill>
                <a:latin typeface="Arial"/>
                <a:cs typeface="Arial"/>
              </a:rPr>
              <a:t>THE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F6C45-5978-4129-A56E-73EC76945EFB}"/>
              </a:ext>
            </a:extLst>
          </p:cNvPr>
          <p:cNvSpPr/>
          <p:nvPr/>
        </p:nvSpPr>
        <p:spPr>
          <a:xfrm>
            <a:off x="914400" y="19812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F3556-0F4B-4C8B-8C6D-149553B175AA}"/>
              </a:ext>
            </a:extLst>
          </p:cNvPr>
          <p:cNvSpPr txBox="1"/>
          <p:nvPr/>
        </p:nvSpPr>
        <p:spPr>
          <a:xfrm>
            <a:off x="1168400" y="20828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DB122-FC16-4494-A5C3-CADFE56A121F}"/>
              </a:ext>
            </a:extLst>
          </p:cNvPr>
          <p:cNvSpPr txBox="1"/>
          <p:nvPr/>
        </p:nvSpPr>
        <p:spPr>
          <a:xfrm>
            <a:off x="3962400" y="20828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licence is your entry ticket.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F7F71-D77B-42E8-8D6C-BC1518A5E729}"/>
              </a:ext>
            </a:extLst>
          </p:cNvPr>
          <p:cNvSpPr txBox="1"/>
          <p:nvPr/>
        </p:nvSpPr>
        <p:spPr>
          <a:xfrm>
            <a:off x="7620000" y="20828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It also ties the income to your presence.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6FF8B-2037-49EF-AD2B-C6FA9561B0EA}"/>
              </a:ext>
            </a:extLst>
          </p:cNvPr>
          <p:cNvSpPr/>
          <p:nvPr/>
        </p:nvSpPr>
        <p:spPr>
          <a:xfrm>
            <a:off x="914400" y="28194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062B7-F0D0-43AE-B572-1D68FF1445C3}"/>
              </a:ext>
            </a:extLst>
          </p:cNvPr>
          <p:cNvSpPr txBox="1"/>
          <p:nvPr/>
        </p:nvSpPr>
        <p:spPr>
          <a:xfrm>
            <a:off x="1168400" y="29210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Funding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0321-93D0-4758-A3DB-DDF7011CC5AA}"/>
              </a:ext>
            </a:extLst>
          </p:cNvPr>
          <p:cNvSpPr txBox="1"/>
          <p:nvPr/>
        </p:nvSpPr>
        <p:spPr>
          <a:xfrm>
            <a:off x="3962400" y="29210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Fees fund you. No investor required.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7F5C2-E1A2-4800-AA5D-2AD3B90C2E8E}"/>
              </a:ext>
            </a:extLst>
          </p:cNvPr>
          <p:cNvSpPr txBox="1"/>
          <p:nvPr/>
        </p:nvSpPr>
        <p:spPr>
          <a:xfrm>
            <a:off x="7620000" y="29210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Banks lend on cash flow, not on ideas.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D284CC-8FC3-499C-AC3B-CFC07E31C9BB}"/>
              </a:ext>
            </a:extLst>
          </p:cNvPr>
          <p:cNvSpPr/>
          <p:nvPr/>
        </p:nvSpPr>
        <p:spPr>
          <a:xfrm>
            <a:off x="914400" y="36576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AD45C-DA16-4C3F-A48B-C19DAF34C6F6}"/>
              </a:ext>
            </a:extLst>
          </p:cNvPr>
          <p:cNvSpPr txBox="1"/>
          <p:nvPr/>
        </p:nvSpPr>
        <p:spPr>
          <a:xfrm>
            <a:off x="1168400" y="3759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CFA47-0BD3-4DB0-885B-25513C1AF629}"/>
              </a:ext>
            </a:extLst>
          </p:cNvPr>
          <p:cNvSpPr txBox="1"/>
          <p:nvPr/>
        </p:nvSpPr>
        <p:spPr>
          <a:xfrm>
            <a:off x="3962400" y="37592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Regulation keeps the crowd out.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9C2A2-3E17-4468-8BC1-C920D1D23E9A}"/>
              </a:ext>
            </a:extLst>
          </p:cNvPr>
          <p:cNvSpPr txBox="1"/>
          <p:nvPr/>
        </p:nvSpPr>
        <p:spPr>
          <a:xfrm>
            <a:off x="7620000" y="37592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Everyone inside holds the same certificate.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94B3-D22E-4F39-B20F-050B42B2396C}"/>
              </a:ext>
            </a:extLst>
          </p:cNvPr>
          <p:cNvSpPr/>
          <p:nvPr/>
        </p:nvSpPr>
        <p:spPr>
          <a:xfrm>
            <a:off x="914400" y="44958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5B96C-5844-425A-9544-8CFF77C2E00F}"/>
              </a:ext>
            </a:extLst>
          </p:cNvPr>
          <p:cNvSpPr txBox="1"/>
          <p:nvPr/>
        </p:nvSpPr>
        <p:spPr>
          <a:xfrm>
            <a:off x="1168400" y="45974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Business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83147-DFAA-4951-A5AC-AE4E61B06099}"/>
              </a:ext>
            </a:extLst>
          </p:cNvPr>
          <p:cNvSpPr txBox="1"/>
          <p:nvPr/>
        </p:nvSpPr>
        <p:spPr>
          <a:xfrm>
            <a:off x="3962400" y="45974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Judgement is priced high, not hours.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BCB91-C7B5-427F-B5C7-42E3EB6565D7}"/>
              </a:ext>
            </a:extLst>
          </p:cNvPr>
          <p:cNvSpPr txBox="1"/>
          <p:nvPr/>
        </p:nvSpPr>
        <p:spPr>
          <a:xfrm>
            <a:off x="7620000" y="45974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Your hours cap the size of the practice.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2D973-B75E-4EB4-B2FB-69EC0D2AFC48}"/>
              </a:ext>
            </a:extLst>
          </p:cNvPr>
          <p:cNvSpPr/>
          <p:nvPr/>
        </p:nvSpPr>
        <p:spPr>
          <a:xfrm>
            <a:off x="914400" y="53340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98402-B926-449B-BBF8-2C04A1FD47CF}"/>
              </a:ext>
            </a:extLst>
          </p:cNvPr>
          <p:cNvSpPr txBox="1"/>
          <p:nvPr/>
        </p:nvSpPr>
        <p:spPr>
          <a:xfrm>
            <a:off x="1168400" y="54356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Exit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5B7749-AA17-433F-BF3E-E4C8EB5D4760}"/>
              </a:ext>
            </a:extLst>
          </p:cNvPr>
          <p:cNvSpPr txBox="1"/>
          <p:nvPr/>
        </p:nvSpPr>
        <p:spPr>
          <a:xfrm>
            <a:off x="3962400" y="54356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firm with systems can be sold.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16C6FD-6FF6-4D34-A208-4C4C7CF27A04}"/>
              </a:ext>
            </a:extLst>
          </p:cNvPr>
          <p:cNvSpPr txBox="1"/>
          <p:nvPr/>
        </p:nvSpPr>
        <p:spPr>
          <a:xfrm>
            <a:off x="7620000" y="5435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personal practice walks out with you.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9803F1-CE4C-4F90-8FCC-4DEAF20CE58B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36824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977039-9022-4382-BCA0-27F230A1D90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EDEAF7-A281-42BA-A072-32CFEE519006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1C1268-B5B6-4C0D-A2F2-DE0853A1067C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DIAGNOSIS 04   ·   FOUNDER-LED, CAUSE-DRIVEN, DONOR-FUNDED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CB7F29-AE78-4633-9D7B-41A89E34692C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Development Organisation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782B4E-EEC1-4B03-A2EC-0AAD7B7090F2}"/>
              </a:ext>
            </a:extLst>
          </p:cNvPr>
          <p:cNvSpPr txBox="1"/>
          <p:nvPr/>
        </p:nvSpPr>
        <p:spPr>
          <a:xfrm>
            <a:off x="1168400" y="1651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3F4A47"/>
                </a:solidFill>
                <a:latin typeface="Arial"/>
                <a:cs typeface="Arial"/>
              </a:rPr>
              <a:t>FEATURE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9286DE-A2F3-4910-A378-EC28D5AC617D}"/>
              </a:ext>
            </a:extLst>
          </p:cNvPr>
          <p:cNvSpPr txBox="1"/>
          <p:nvPr/>
        </p:nvSpPr>
        <p:spPr>
          <a:xfrm>
            <a:off x="3962400" y="1651000"/>
            <a:ext cx="3429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2E7D4F"/>
                </a:solidFill>
                <a:latin typeface="Arial"/>
                <a:cs typeface="Arial"/>
              </a:rPr>
              <a:t>THE UPSIDE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07B22D-F270-4346-AD57-59B343349C07}"/>
              </a:ext>
            </a:extLst>
          </p:cNvPr>
          <p:cNvSpPr txBox="1"/>
          <p:nvPr/>
        </p:nvSpPr>
        <p:spPr>
          <a:xfrm>
            <a:off x="7620000" y="1651000"/>
            <a:ext cx="3454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200" dirty="0">
                <a:solidFill>
                  <a:srgbClr val="A2432F"/>
                </a:solidFill>
                <a:latin typeface="Arial"/>
                <a:cs typeface="Arial"/>
              </a:rPr>
              <a:t>THE COST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3F6C45-5978-4129-A56E-73EC76945EFB}"/>
              </a:ext>
            </a:extLst>
          </p:cNvPr>
          <p:cNvSpPr/>
          <p:nvPr/>
        </p:nvSpPr>
        <p:spPr>
          <a:xfrm>
            <a:off x="914400" y="19812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F3556-0F4B-4C8B-8C6D-149553B175AA}"/>
              </a:ext>
            </a:extLst>
          </p:cNvPr>
          <p:cNvSpPr txBox="1"/>
          <p:nvPr/>
        </p:nvSpPr>
        <p:spPr>
          <a:xfrm>
            <a:off x="1168400" y="20828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DB122-FC16-4494-A5C3-CADFE56A121F}"/>
              </a:ext>
            </a:extLst>
          </p:cNvPr>
          <p:cNvSpPr txBox="1"/>
          <p:nvPr/>
        </p:nvSpPr>
        <p:spPr>
          <a:xfrm>
            <a:off x="3962400" y="20828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start from a cause you believe in.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DF7F71-D77B-42E8-8D6C-BC1518A5E729}"/>
              </a:ext>
            </a:extLst>
          </p:cNvPr>
          <p:cNvSpPr txBox="1"/>
          <p:nvPr/>
        </p:nvSpPr>
        <p:spPr>
          <a:xfrm>
            <a:off x="7620000" y="20828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payer is not the person you serve.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36FF8B-2037-49EF-AD2B-C6FA9561B0EA}"/>
              </a:ext>
            </a:extLst>
          </p:cNvPr>
          <p:cNvSpPr/>
          <p:nvPr/>
        </p:nvSpPr>
        <p:spPr>
          <a:xfrm>
            <a:off x="914400" y="28194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74062B7-F0D0-43AE-B572-1D68FF1445C3}"/>
              </a:ext>
            </a:extLst>
          </p:cNvPr>
          <p:cNvSpPr txBox="1"/>
          <p:nvPr/>
        </p:nvSpPr>
        <p:spPr>
          <a:xfrm>
            <a:off x="1168400" y="29210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Funding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5D0321-93D0-4758-A3DB-DDF7011CC5AA}"/>
              </a:ext>
            </a:extLst>
          </p:cNvPr>
          <p:cNvSpPr txBox="1"/>
          <p:nvPr/>
        </p:nvSpPr>
        <p:spPr>
          <a:xfrm>
            <a:off x="3962400" y="29210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Grants fund work you could never self-fund.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7F5C2-E1A2-4800-AA5D-2AD3B90C2E8E}"/>
              </a:ext>
            </a:extLst>
          </p:cNvPr>
          <p:cNvSpPr txBox="1"/>
          <p:nvPr/>
        </p:nvSpPr>
        <p:spPr>
          <a:xfrm>
            <a:off x="7620000" y="29210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When the cycle closes, the work stops.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ED284CC-8FC3-499C-AC3B-CFC07E31C9BB}"/>
              </a:ext>
            </a:extLst>
          </p:cNvPr>
          <p:cNvSpPr/>
          <p:nvPr/>
        </p:nvSpPr>
        <p:spPr>
          <a:xfrm>
            <a:off x="914400" y="36576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0DAD45C-DA16-4C3F-A48B-C19DAF34C6F6}"/>
              </a:ext>
            </a:extLst>
          </p:cNvPr>
          <p:cNvSpPr txBox="1"/>
          <p:nvPr/>
        </p:nvSpPr>
        <p:spPr>
          <a:xfrm>
            <a:off x="1168400" y="37592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Market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50CFA47-0BD3-4DB0-885B-25513C1AF629}"/>
              </a:ext>
            </a:extLst>
          </p:cNvPr>
          <p:cNvSpPr txBox="1"/>
          <p:nvPr/>
        </p:nvSpPr>
        <p:spPr>
          <a:xfrm>
            <a:off x="3962400" y="37592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Depth in one issue earns the next grant.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1C9C2A2-3E17-4468-8BC1-C920D1D23E9A}"/>
              </a:ext>
            </a:extLst>
          </p:cNvPr>
          <p:cNvSpPr txBox="1"/>
          <p:nvPr/>
        </p:nvSpPr>
        <p:spPr>
          <a:xfrm>
            <a:off x="7620000" y="37592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Chasing every call raises small money.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2B94B3-D22E-4F39-B20F-050B42B2396C}"/>
              </a:ext>
            </a:extLst>
          </p:cNvPr>
          <p:cNvSpPr/>
          <p:nvPr/>
        </p:nvSpPr>
        <p:spPr>
          <a:xfrm>
            <a:off x="914400" y="44958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55B96C-5844-425A-9544-8CFF77C2E00F}"/>
              </a:ext>
            </a:extLst>
          </p:cNvPr>
          <p:cNvSpPr txBox="1"/>
          <p:nvPr/>
        </p:nvSpPr>
        <p:spPr>
          <a:xfrm>
            <a:off x="1168400" y="45974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Business 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C83147-DFAA-4951-A5AC-AE4E61B06099}"/>
              </a:ext>
            </a:extLst>
          </p:cNvPr>
          <p:cNvSpPr txBox="1"/>
          <p:nvPr/>
        </p:nvSpPr>
        <p:spPr>
          <a:xfrm>
            <a:off x="3962400" y="45974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Evidence you can prove is what you can raise.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BCB91-C7B5-427F-B5C7-42E3EB6565D7}"/>
              </a:ext>
            </a:extLst>
          </p:cNvPr>
          <p:cNvSpPr txBox="1"/>
          <p:nvPr/>
        </p:nvSpPr>
        <p:spPr>
          <a:xfrm>
            <a:off x="7620000" y="45974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Donor priorities quietly rewrite your plan.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32D973-B75E-4EB4-B2FB-69EC0D2AFC48}"/>
              </a:ext>
            </a:extLst>
          </p:cNvPr>
          <p:cNvSpPr/>
          <p:nvPr/>
        </p:nvSpPr>
        <p:spPr>
          <a:xfrm>
            <a:off x="914400" y="5334000"/>
            <a:ext cx="10363200" cy="736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B98402-B926-449B-BBF8-2C04A1FD47CF}"/>
              </a:ext>
            </a:extLst>
          </p:cNvPr>
          <p:cNvSpPr txBox="1"/>
          <p:nvPr/>
        </p:nvSpPr>
        <p:spPr>
          <a:xfrm>
            <a:off x="1168400" y="5435600"/>
            <a:ext cx="2540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Exit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5B7749-AA17-433F-BF3E-E4C8EB5D4760}"/>
              </a:ext>
            </a:extLst>
          </p:cNvPr>
          <p:cNvSpPr txBox="1"/>
          <p:nvPr/>
        </p:nvSpPr>
        <p:spPr>
          <a:xfrm>
            <a:off x="3962400" y="5435600"/>
            <a:ext cx="3429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Influence, access and standing at any age.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216C6FD-6FF6-4D34-A208-4C4C7CF27A04}"/>
              </a:ext>
            </a:extLst>
          </p:cNvPr>
          <p:cNvSpPr txBox="1"/>
          <p:nvPr/>
        </p:nvSpPr>
        <p:spPr>
          <a:xfrm>
            <a:off x="7620000" y="5435600"/>
            <a:ext cx="34544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No equity. Nothing to sell or hand over.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F51EAAF-E16D-4D26-AC26-CDAAE08BFCB7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A9C4BB"/>
                </a:solidFill>
                <a:latin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1931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1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84616A2-A37B-40B8-9F8E-D64F9AAD36E5}"/>
              </a:ext>
            </a:extLst>
          </p:cNvPr>
          <p:cNvSpPr/>
          <p:nvPr/>
        </p:nvSpPr>
        <p:spPr>
          <a:xfrm rot="-2700000">
            <a:off x="8382000" y="-2540000"/>
            <a:ext cx="203200" cy="1066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152CC-E0E9-4EDB-88D9-D5737AF1DA0A}"/>
              </a:ext>
            </a:extLst>
          </p:cNvPr>
          <p:cNvSpPr/>
          <p:nvPr/>
        </p:nvSpPr>
        <p:spPr>
          <a:xfrm rot="-2700000">
            <a:off x="8890000" y="-3175000"/>
            <a:ext cx="2159000" cy="11430000"/>
          </a:xfrm>
          <a:prstGeom prst="rect">
            <a:avLst/>
          </a:prstGeom>
          <a:solidFill>
            <a:srgbClr val="1A4A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893CA-D088-4F66-8251-EF87FCB73511}"/>
              </a:ext>
            </a:extLst>
          </p:cNvPr>
          <p:cNvSpPr/>
          <p:nvPr/>
        </p:nvSpPr>
        <p:spPr>
          <a:xfrm>
            <a:off x="914400" y="2489200"/>
            <a:ext cx="7112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8CD93-1196-4EBE-B740-CB53E661F0F3}"/>
              </a:ext>
            </a:extLst>
          </p:cNvPr>
          <p:cNvSpPr txBox="1"/>
          <p:nvPr/>
        </p:nvSpPr>
        <p:spPr>
          <a:xfrm>
            <a:off x="914400" y="27178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SECTION TWO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419AC-F2F1-4B7A-A7C3-3451E05BC024}"/>
              </a:ext>
            </a:extLst>
          </p:cNvPr>
          <p:cNvSpPr txBox="1"/>
          <p:nvPr/>
        </p:nvSpPr>
        <p:spPr>
          <a:xfrm>
            <a:off x="914400" y="3098800"/>
            <a:ext cx="7620000" cy="177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4400" b="1" dirty="0">
                <a:solidFill>
                  <a:srgbClr val="FFFFFF"/>
                </a:solidFill>
                <a:latin typeface="Arial"/>
                <a:cs typeface="Arial"/>
              </a:rPr>
              <a:t>Some Fundamentals from Idea to Enterprise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4A2CF3-CBA2-4EED-863B-CEDC158356D5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598049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3025DBD-0B8F-4525-89C4-87830A93A38F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A4C7AA-5A75-4CAB-9340-C0D1D51756EC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F6322FF-3B75-495B-A2B3-80D6AF5DD5B7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200" b="1" spc="300" dirty="0">
                <a:solidFill>
                  <a:srgbClr val="E9A13B"/>
                </a:solidFill>
                <a:latin typeface="Arial"/>
                <a:cs typeface="Arial"/>
              </a:rPr>
              <a:t>SECTION TWO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3762BB6-6E1E-4FA6-934C-4C8ADAA8A102}"/>
              </a:ext>
            </a:extLst>
          </p:cNvPr>
          <p:cNvSpPr txBox="1"/>
          <p:nvPr/>
        </p:nvSpPr>
        <p:spPr>
          <a:xfrm>
            <a:off x="914400" y="6858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000" b="1" dirty="0">
                <a:solidFill>
                  <a:srgbClr val="FFFFFF"/>
                </a:solidFill>
                <a:latin typeface="Arial"/>
                <a:cs typeface="Arial"/>
              </a:rPr>
              <a:t>What we will cover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FF7AF1F-7C14-4803-94C2-10067304D921}"/>
              </a:ext>
            </a:extLst>
          </p:cNvPr>
          <p:cNvSpPr/>
          <p:nvPr/>
        </p:nvSpPr>
        <p:spPr>
          <a:xfrm>
            <a:off x="914400" y="1887670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3E519C-B1B2-4E3F-93CC-9297878F5A41}"/>
              </a:ext>
            </a:extLst>
          </p:cNvPr>
          <p:cNvSpPr txBox="1"/>
          <p:nvPr/>
        </p:nvSpPr>
        <p:spPr>
          <a:xfrm>
            <a:off x="1473200" y="1887670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8CD922D-1715-47BB-9BB5-0248247EB9EB}"/>
              </a:ext>
            </a:extLst>
          </p:cNvPr>
          <p:cNvSpPr txBox="1"/>
          <p:nvPr/>
        </p:nvSpPr>
        <p:spPr>
          <a:xfrm>
            <a:off x="1473200" y="2192470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Why you are in business, and at what pressure.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C8D8D251-1EFA-4F4F-ABC6-53A4C0BC97D1}"/>
              </a:ext>
            </a:extLst>
          </p:cNvPr>
          <p:cNvSpPr/>
          <p:nvPr/>
        </p:nvSpPr>
        <p:spPr>
          <a:xfrm>
            <a:off x="6391275" y="1887670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7EE79E-B90A-4351-A42C-4C37ECC13722}"/>
              </a:ext>
            </a:extLst>
          </p:cNvPr>
          <p:cNvSpPr txBox="1"/>
          <p:nvPr/>
        </p:nvSpPr>
        <p:spPr>
          <a:xfrm>
            <a:off x="6950075" y="1887670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Self-awareness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F9DE6D-4FBA-41F0-B769-4CD69F4AD5CB}"/>
              </a:ext>
            </a:extLst>
          </p:cNvPr>
          <p:cNvSpPr txBox="1"/>
          <p:nvPr/>
        </p:nvSpPr>
        <p:spPr>
          <a:xfrm>
            <a:off x="6950075" y="2192470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Personality, character and an honest self-read.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E9B6B57B-C64E-42D3-AE00-C459D0F95F6C}"/>
              </a:ext>
            </a:extLst>
          </p:cNvPr>
          <p:cNvSpPr/>
          <p:nvPr/>
        </p:nvSpPr>
        <p:spPr>
          <a:xfrm>
            <a:off x="914400" y="2965158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467CFD7-DDD6-4B6D-B38E-F44626F4B3D9}"/>
              </a:ext>
            </a:extLst>
          </p:cNvPr>
          <p:cNvSpPr txBox="1"/>
          <p:nvPr/>
        </p:nvSpPr>
        <p:spPr>
          <a:xfrm>
            <a:off x="1473200" y="2965158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Market and Industry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CFC26B2-8F27-4CFD-9BAD-12361D5C9492}"/>
              </a:ext>
            </a:extLst>
          </p:cNvPr>
          <p:cNvSpPr txBox="1"/>
          <p:nvPr/>
        </p:nvSpPr>
        <p:spPr>
          <a:xfrm>
            <a:off x="1473200" y="3269958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The problem, the offer and positioning.</a:t>
            </a: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D1953E1-6823-452A-B821-6CAF1360B18D}"/>
              </a:ext>
            </a:extLst>
          </p:cNvPr>
          <p:cNvSpPr/>
          <p:nvPr/>
        </p:nvSpPr>
        <p:spPr>
          <a:xfrm>
            <a:off x="6391275" y="2965158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7976F4A-75A2-405B-9AB4-3ADF81875DB2}"/>
              </a:ext>
            </a:extLst>
          </p:cNvPr>
          <p:cNvSpPr txBox="1"/>
          <p:nvPr/>
        </p:nvSpPr>
        <p:spPr>
          <a:xfrm>
            <a:off x="6950075" y="2965158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Business Model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ACC6A2-708E-4AA0-A3F5-2840D79FF822}"/>
              </a:ext>
            </a:extLst>
          </p:cNvPr>
          <p:cNvSpPr txBox="1"/>
          <p:nvPr/>
        </p:nvSpPr>
        <p:spPr>
          <a:xfrm>
            <a:off x="6950075" y="3269958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Something original, or a copy of what exists.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26EF85E5-E7EB-4501-8524-F20A3F7503DA}"/>
              </a:ext>
            </a:extLst>
          </p:cNvPr>
          <p:cNvSpPr/>
          <p:nvPr/>
        </p:nvSpPr>
        <p:spPr>
          <a:xfrm>
            <a:off x="914400" y="3897359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B75FF8-0E5C-4CE3-895D-081003CEDC9F}"/>
              </a:ext>
            </a:extLst>
          </p:cNvPr>
          <p:cNvSpPr txBox="1"/>
          <p:nvPr/>
        </p:nvSpPr>
        <p:spPr>
          <a:xfrm>
            <a:off x="1473200" y="3897359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Team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C49248-D449-4B30-9E07-CEF62827BC1A}"/>
              </a:ext>
            </a:extLst>
          </p:cNvPr>
          <p:cNvSpPr txBox="1"/>
          <p:nvPr/>
        </p:nvSpPr>
        <p:spPr>
          <a:xfrm>
            <a:off x="1473200" y="4202159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Co-founders, partners and top talent.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5DBCC4F6-B305-4A32-A586-9792C1787E38}"/>
              </a:ext>
            </a:extLst>
          </p:cNvPr>
          <p:cNvSpPr/>
          <p:nvPr/>
        </p:nvSpPr>
        <p:spPr>
          <a:xfrm>
            <a:off x="6391275" y="3897359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06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078AA53-0F77-492B-84E4-5D78D3D78117}"/>
              </a:ext>
            </a:extLst>
          </p:cNvPr>
          <p:cNvSpPr txBox="1"/>
          <p:nvPr/>
        </p:nvSpPr>
        <p:spPr>
          <a:xfrm>
            <a:off x="6950075" y="3897359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Artificial Intelligence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9A4B801-7A5A-4419-935B-19803065C373}"/>
              </a:ext>
            </a:extLst>
          </p:cNvPr>
          <p:cNvSpPr txBox="1"/>
          <p:nvPr/>
        </p:nvSpPr>
        <p:spPr>
          <a:xfrm>
            <a:off x="6950075" y="4202159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AI-enabled, or AI-native.</a:t>
            </a:r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0ED93240-9339-48DD-9D2A-BC5376CF8CA1}"/>
              </a:ext>
            </a:extLst>
          </p:cNvPr>
          <p:cNvSpPr/>
          <p:nvPr/>
        </p:nvSpPr>
        <p:spPr>
          <a:xfrm>
            <a:off x="914400" y="4863744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07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0397CA-385B-4B8E-BB06-57AF090BAC71}"/>
              </a:ext>
            </a:extLst>
          </p:cNvPr>
          <p:cNvSpPr txBox="1"/>
          <p:nvPr/>
        </p:nvSpPr>
        <p:spPr>
          <a:xfrm>
            <a:off x="1473200" y="4863744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Operations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F918B88-7514-466B-9DC6-AB92665632AB}"/>
              </a:ext>
            </a:extLst>
          </p:cNvPr>
          <p:cNvSpPr txBox="1"/>
          <p:nvPr/>
        </p:nvSpPr>
        <p:spPr>
          <a:xfrm>
            <a:off x="1473200" y="5168544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Systems that run without you.</a:t>
            </a:r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22F6A19-E403-4CD7-813A-96F41AD3FDE9}"/>
              </a:ext>
            </a:extLst>
          </p:cNvPr>
          <p:cNvSpPr/>
          <p:nvPr/>
        </p:nvSpPr>
        <p:spPr>
          <a:xfrm>
            <a:off x="6391275" y="4863744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72367F3-6EEE-458B-9796-0378F4819831}"/>
              </a:ext>
            </a:extLst>
          </p:cNvPr>
          <p:cNvSpPr txBox="1"/>
          <p:nvPr/>
        </p:nvSpPr>
        <p:spPr>
          <a:xfrm>
            <a:off x="6950075" y="4863744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Funding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FD48A036-ECDA-4893-A95F-27CD842DCE9F}"/>
              </a:ext>
            </a:extLst>
          </p:cNvPr>
          <p:cNvSpPr txBox="1"/>
          <p:nvPr/>
        </p:nvSpPr>
        <p:spPr>
          <a:xfrm>
            <a:off x="6950075" y="5168544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Bootstrap, investment or grants.</a:t>
            </a:r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7A316A86-BBF0-4C64-A95F-D0CDD996EFA4}"/>
              </a:ext>
            </a:extLst>
          </p:cNvPr>
          <p:cNvSpPr/>
          <p:nvPr/>
        </p:nvSpPr>
        <p:spPr>
          <a:xfrm>
            <a:off x="914400" y="5787403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09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0CE246D-87E8-436D-A152-F6A3BC3355FB}"/>
              </a:ext>
            </a:extLst>
          </p:cNvPr>
          <p:cNvSpPr txBox="1"/>
          <p:nvPr/>
        </p:nvSpPr>
        <p:spPr>
          <a:xfrm>
            <a:off x="1473200" y="5787403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Risk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3428998-E506-40B9-AB2A-4391590277F2}"/>
              </a:ext>
            </a:extLst>
          </p:cNvPr>
          <p:cNvSpPr txBox="1"/>
          <p:nvPr/>
        </p:nvSpPr>
        <p:spPr>
          <a:xfrm>
            <a:off x="1473200" y="6092203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Balancing your excesses.</a:t>
            </a:r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D947122A-B9C3-4F0E-9B5A-617A4452DDD8}"/>
              </a:ext>
            </a:extLst>
          </p:cNvPr>
          <p:cNvSpPr/>
          <p:nvPr/>
        </p:nvSpPr>
        <p:spPr>
          <a:xfrm>
            <a:off x="6391275" y="5787403"/>
            <a:ext cx="406400" cy="4064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1200" b="1" dirty="0">
                <a:solidFill>
                  <a:srgbClr val="10312B"/>
                </a:solidFill>
                <a:latin typeface="Arial"/>
                <a:cs typeface="Arial"/>
              </a:rPr>
              <a:t>10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FF2D50B-D4DE-466C-8E74-1E647660CEED}"/>
              </a:ext>
            </a:extLst>
          </p:cNvPr>
          <p:cNvSpPr txBox="1"/>
          <p:nvPr/>
        </p:nvSpPr>
        <p:spPr>
          <a:xfrm>
            <a:off x="6950075" y="5787403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Exit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4440027-BD11-4542-BE9E-1413EA43BBE7}"/>
              </a:ext>
            </a:extLst>
          </p:cNvPr>
          <p:cNvSpPr txBox="1"/>
          <p:nvPr/>
        </p:nvSpPr>
        <p:spPr>
          <a:xfrm>
            <a:off x="6950075" y="6092203"/>
            <a:ext cx="4470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600" dirty="0">
                <a:solidFill>
                  <a:srgbClr val="4C5A56"/>
                </a:solidFill>
                <a:latin typeface="Arial"/>
                <a:cs typeface="Arial"/>
              </a:rPr>
              <a:t>Scale, sell or go public.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F530C70-1E44-48C0-BD26-7398DD357F5E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9100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3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3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3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3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3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3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3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3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3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3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3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6" dur="3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3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220C06-1FD1-41A6-A1CB-4BF6370E9AF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ADE8D-0A70-4E2D-B34E-6D798A709C0A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877B3C-C3F9-4024-BF11-49926DF6A85D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974630-D4C2-4183-8F30-0ABA54FC5EAC}"/>
              </a:ext>
            </a:extLst>
          </p:cNvPr>
          <p:cNvSpPr txBox="1"/>
          <p:nvPr/>
        </p:nvSpPr>
        <p:spPr>
          <a:xfrm>
            <a:off x="914400" y="6858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Strategic Intent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8BBCA01-A878-4714-AAA6-93087BC004D5}"/>
              </a:ext>
            </a:extLst>
          </p:cNvPr>
          <p:cNvSpPr/>
          <p:nvPr/>
        </p:nvSpPr>
        <p:spPr>
          <a:xfrm>
            <a:off x="914400" y="1828800"/>
            <a:ext cx="5029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CD36A9-896F-4117-ADE6-411F77F5EA9C}"/>
              </a:ext>
            </a:extLst>
          </p:cNvPr>
          <p:cNvSpPr/>
          <p:nvPr/>
        </p:nvSpPr>
        <p:spPr>
          <a:xfrm>
            <a:off x="914400" y="1828800"/>
            <a:ext cx="63500" cy="2159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AA3A14-25E5-4D08-94B9-92AD4CEBFCAF}"/>
              </a:ext>
            </a:extLst>
          </p:cNvPr>
          <p:cNvSpPr txBox="1"/>
          <p:nvPr/>
        </p:nvSpPr>
        <p:spPr>
          <a:xfrm>
            <a:off x="1219200" y="2108200"/>
            <a:ext cx="441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Mission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F2551E-E25B-4777-AF11-3ED0A393E75A}"/>
              </a:ext>
            </a:extLst>
          </p:cNvPr>
          <p:cNvSpPr txBox="1"/>
          <p:nvPr/>
        </p:nvSpPr>
        <p:spPr>
          <a:xfrm>
            <a:off x="1219200" y="2565400"/>
            <a:ext cx="441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Your purpose and your why. To support your husband</a:t>
            </a:r>
            <a:r>
              <a:rPr lang="en-US" sz="1800" dirty="0">
                <a:solidFill>
                  <a:srgbClr val="3F4A47"/>
                </a:solidFill>
                <a:latin typeface="Arial"/>
                <a:cs typeface="Arial"/>
              </a:rPr>
              <a:t>/Wife</a:t>
            </a: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, or to </a:t>
            </a:r>
            <a:r>
              <a:rPr lang="en-US" sz="1800" dirty="0">
                <a:solidFill>
                  <a:srgbClr val="3F4A47"/>
                </a:solidFill>
                <a:latin typeface="Arial"/>
                <a:cs typeface="Arial"/>
              </a:rPr>
              <a:t>change the World</a:t>
            </a: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. Both are valid, but they are not the same business.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75E6634-B9BA-4088-834E-7DD42C65E8F3}"/>
              </a:ext>
            </a:extLst>
          </p:cNvPr>
          <p:cNvSpPr/>
          <p:nvPr/>
        </p:nvSpPr>
        <p:spPr>
          <a:xfrm>
            <a:off x="6248400" y="1828800"/>
            <a:ext cx="5029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B6357A7-6CDD-4185-AF5D-939D4193BFED}"/>
              </a:ext>
            </a:extLst>
          </p:cNvPr>
          <p:cNvSpPr/>
          <p:nvPr/>
        </p:nvSpPr>
        <p:spPr>
          <a:xfrm>
            <a:off x="6248400" y="1828800"/>
            <a:ext cx="63500" cy="2159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8B95D2-5AB3-4C8A-8A2F-8FFEECABF053}"/>
              </a:ext>
            </a:extLst>
          </p:cNvPr>
          <p:cNvSpPr txBox="1"/>
          <p:nvPr/>
        </p:nvSpPr>
        <p:spPr>
          <a:xfrm>
            <a:off x="6553200" y="2108200"/>
            <a:ext cx="441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317375-CD0E-44E0-9187-396DDF627FDB}"/>
              </a:ext>
            </a:extLst>
          </p:cNvPr>
          <p:cNvSpPr txBox="1"/>
          <p:nvPr/>
        </p:nvSpPr>
        <p:spPr>
          <a:xfrm>
            <a:off x="6553200" y="2565400"/>
            <a:ext cx="441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destination you are walking towards. To build a house, or to become a monopoly.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75C54D-D72E-43C9-8955-F04CFA3AF00C}"/>
              </a:ext>
            </a:extLst>
          </p:cNvPr>
          <p:cNvSpPr/>
          <p:nvPr/>
        </p:nvSpPr>
        <p:spPr>
          <a:xfrm>
            <a:off x="914400" y="4165600"/>
            <a:ext cx="5029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A1BB44-720C-4CCD-8AEC-0B97F2987DB7}"/>
              </a:ext>
            </a:extLst>
          </p:cNvPr>
          <p:cNvSpPr/>
          <p:nvPr/>
        </p:nvSpPr>
        <p:spPr>
          <a:xfrm>
            <a:off x="914400" y="4165600"/>
            <a:ext cx="63500" cy="2159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C213D9-1BA3-4AA3-B2FF-8C7E293592D8}"/>
              </a:ext>
            </a:extLst>
          </p:cNvPr>
          <p:cNvSpPr txBox="1"/>
          <p:nvPr/>
        </p:nvSpPr>
        <p:spPr>
          <a:xfrm>
            <a:off x="1219200" y="4445000"/>
            <a:ext cx="441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Strategic Objectives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A9951E-C37D-4D6B-A317-665436663A87}"/>
              </a:ext>
            </a:extLst>
          </p:cNvPr>
          <p:cNvSpPr txBox="1"/>
          <p:nvPr/>
        </p:nvSpPr>
        <p:spPr>
          <a:xfrm>
            <a:off x="1219200" y="4902200"/>
            <a:ext cx="441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Mini-visions across the metrics that matter: revenue, customers, people, reach.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0612AD-3AA8-49E4-9A52-9975A77E55DD}"/>
              </a:ext>
            </a:extLst>
          </p:cNvPr>
          <p:cNvSpPr/>
          <p:nvPr/>
        </p:nvSpPr>
        <p:spPr>
          <a:xfrm>
            <a:off x="6248400" y="4165600"/>
            <a:ext cx="5029200" cy="2159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AC1073-2E26-491A-91CA-FA863C554601}"/>
              </a:ext>
            </a:extLst>
          </p:cNvPr>
          <p:cNvSpPr/>
          <p:nvPr/>
        </p:nvSpPr>
        <p:spPr>
          <a:xfrm>
            <a:off x="6248400" y="4165600"/>
            <a:ext cx="63500" cy="2159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7FEE3E-C0DE-43FC-AFB7-381FFD3FC3FF}"/>
              </a:ext>
            </a:extLst>
          </p:cNvPr>
          <p:cNvSpPr txBox="1"/>
          <p:nvPr/>
        </p:nvSpPr>
        <p:spPr>
          <a:xfrm>
            <a:off x="6553200" y="4445000"/>
            <a:ext cx="4419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Core Values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64EBE1-A88F-4081-98BD-E4502E27C1F9}"/>
              </a:ext>
            </a:extLst>
          </p:cNvPr>
          <p:cNvSpPr txBox="1"/>
          <p:nvPr/>
        </p:nvSpPr>
        <p:spPr>
          <a:xfrm>
            <a:off x="6553200" y="4902200"/>
            <a:ext cx="44196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Your true capability and identity. Not the words on the wall, but how you behave when it costs you.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FF98DE-8564-45CC-A8C0-534029912FA1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017801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BF068A-A927-42C5-A91C-10093BDEB814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1AFEC91-B517-4510-BF43-AECF1E050880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541439-7DDC-4B92-84C0-D1338239C1B3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01   ·   STRATEGIC INTENT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C4EEAD-E84E-406F-A007-276AEE6635D2}"/>
              </a:ext>
            </a:extLst>
          </p:cNvPr>
          <p:cNvSpPr txBox="1"/>
          <p:nvPr/>
        </p:nvSpPr>
        <p:spPr>
          <a:xfrm>
            <a:off x="914400" y="685800"/>
            <a:ext cx="1143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>
              <a:lnSpc>
                <a:spcPct val="108000"/>
              </a:lnSpc>
            </a:pPr>
            <a:r>
              <a:rPr lang="en-NG" sz="2400" b="1" dirty="0">
                <a:solidFill>
                  <a:schemeClr val="bg1"/>
                </a:solidFill>
                <a:latin typeface="Arial"/>
                <a:cs typeface="Arial"/>
              </a:rPr>
              <a:t>Pressure</a:t>
            </a:r>
            <a:r>
              <a:rPr lang="en-US" sz="2400" b="1" dirty="0">
                <a:solidFill>
                  <a:schemeClr val="bg1"/>
                </a:solidFill>
                <a:latin typeface="Arial"/>
                <a:cs typeface="Arial"/>
              </a:rPr>
              <a:t> – </a:t>
            </a:r>
            <a:r>
              <a:rPr lang="en-NG" sz="2400" b="1" i="1" dirty="0">
                <a:solidFill>
                  <a:schemeClr val="bg1"/>
                </a:solidFill>
                <a:latin typeface="Arial"/>
                <a:cs typeface="Arial"/>
              </a:rPr>
              <a:t>A matchstick can light a forest, but cannot directly boil meat.</a:t>
            </a:r>
          </a:p>
          <a:p>
            <a:pPr algn="l">
              <a:lnSpc>
                <a:spcPct val="108000"/>
              </a:lnSpc>
              <a:buNone/>
            </a:pPr>
            <a:endParaRPr lang="en-NG" sz="3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852D2-F4D4-4543-B281-D5DC429B8DF1}"/>
              </a:ext>
            </a:extLst>
          </p:cNvPr>
          <p:cNvSpPr txBox="1"/>
          <p:nvPr/>
        </p:nvSpPr>
        <p:spPr>
          <a:xfrm>
            <a:off x="914400" y="1752600"/>
            <a:ext cx="10363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endParaRPr lang="en-NG" sz="2000" b="1" dirty="0">
              <a:solidFill>
                <a:srgbClr val="10312B"/>
              </a:solidFill>
              <a:latin typeface="Arial"/>
              <a:cs typeface="Arial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830741-91D6-4FCD-A42F-FA75482BE45A}"/>
              </a:ext>
            </a:extLst>
          </p:cNvPr>
          <p:cNvSpPr txBox="1"/>
          <p:nvPr/>
        </p:nvSpPr>
        <p:spPr>
          <a:xfrm>
            <a:off x="809625" y="1711325"/>
            <a:ext cx="1036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10312B"/>
                </a:solidFill>
                <a:latin typeface="Arial"/>
                <a:cs typeface="Arial"/>
              </a:rPr>
              <a:t>You cannot accomplish anything without pressure. There’s too much competition or poverty. If you do not have results, you will be disrespected even in family meetings</a:t>
            </a:r>
          </a:p>
          <a:p>
            <a:pPr algn="ctr">
              <a:lnSpc>
                <a:spcPct val="108000"/>
              </a:lnSpc>
              <a:buNone/>
            </a:pPr>
            <a:endParaRPr lang="en-US" sz="2000" b="1" dirty="0">
              <a:solidFill>
                <a:srgbClr val="10312B"/>
              </a:solidFill>
              <a:latin typeface="Arial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BDACD58-C6F8-0876-7AFE-6785D2EDC0A0}"/>
              </a:ext>
            </a:extLst>
          </p:cNvPr>
          <p:cNvGrpSpPr/>
          <p:nvPr/>
        </p:nvGrpSpPr>
        <p:grpSpPr>
          <a:xfrm>
            <a:off x="609600" y="2447925"/>
            <a:ext cx="11058525" cy="2057400"/>
            <a:chOff x="609600" y="2743200"/>
            <a:chExt cx="11058525" cy="20574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1E5C990-EBB8-4416-8EDB-EE8EA8E8CB17}"/>
                </a:ext>
              </a:extLst>
            </p:cNvPr>
            <p:cNvSpPr txBox="1"/>
            <p:nvPr/>
          </p:nvSpPr>
          <p:spPr>
            <a:xfrm>
              <a:off x="609600" y="4470400"/>
              <a:ext cx="2514600" cy="330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lnSpc>
                  <a:spcPct val="108000"/>
                </a:lnSpc>
                <a:buNone/>
              </a:pPr>
              <a:r>
                <a:rPr lang="en-NG" sz="2000" b="1" dirty="0">
                  <a:solidFill>
                    <a:srgbClr val="10312B"/>
                  </a:solidFill>
                  <a:latin typeface="Arial"/>
                  <a:cs typeface="Arial"/>
                </a:rPr>
                <a:t>Matchstick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0B176730-ACB5-47B9-A7C2-10C15BD99635}"/>
                </a:ext>
              </a:extLst>
            </p:cNvPr>
            <p:cNvSpPr txBox="1"/>
            <p:nvPr/>
          </p:nvSpPr>
          <p:spPr>
            <a:xfrm>
              <a:off x="3530600" y="4470400"/>
              <a:ext cx="2514600" cy="330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lnSpc>
                  <a:spcPct val="108000"/>
                </a:lnSpc>
                <a:buNone/>
              </a:pPr>
              <a:r>
                <a:rPr lang="en-NG" sz="2000" b="1" dirty="0">
                  <a:solidFill>
                    <a:srgbClr val="10312B"/>
                  </a:solidFill>
                  <a:latin typeface="Arial"/>
                  <a:cs typeface="Arial"/>
                </a:rPr>
                <a:t>Candle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8384C13-F518-412B-9F7B-1199F208120B}"/>
                </a:ext>
              </a:extLst>
            </p:cNvPr>
            <p:cNvSpPr txBox="1"/>
            <p:nvPr/>
          </p:nvSpPr>
          <p:spPr>
            <a:xfrm>
              <a:off x="6146800" y="4470400"/>
              <a:ext cx="2514600" cy="330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lnSpc>
                  <a:spcPct val="108000"/>
                </a:lnSpc>
                <a:buNone/>
              </a:pPr>
              <a:r>
                <a:rPr lang="en-NG" sz="2000" b="1" dirty="0">
                  <a:solidFill>
                    <a:srgbClr val="10312B"/>
                  </a:solidFill>
                  <a:latin typeface="Arial"/>
                  <a:cs typeface="Arial"/>
                </a:rPr>
                <a:t>Small burner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C9ABAF1-A957-4246-931E-258709E61D89}"/>
                </a:ext>
              </a:extLst>
            </p:cNvPr>
            <p:cNvSpPr txBox="1"/>
            <p:nvPr/>
          </p:nvSpPr>
          <p:spPr>
            <a:xfrm>
              <a:off x="9153525" y="4470400"/>
              <a:ext cx="2514600" cy="330200"/>
            </a:xfrm>
            <a:prstGeom prst="rect">
              <a:avLst/>
            </a:prstGeom>
            <a:noFill/>
          </p:spPr>
          <p:txBody>
            <a:bodyPr vertOverflow="overflow" vert="horz" wrap="square" rtlCol="0" anchor="t">
              <a:noAutofit/>
            </a:bodyPr>
            <a:lstStyle/>
            <a:p>
              <a:pPr algn="ctr">
                <a:lnSpc>
                  <a:spcPct val="108000"/>
                </a:lnSpc>
                <a:buNone/>
              </a:pPr>
              <a:r>
                <a:rPr lang="en-NG" sz="2000" b="1" dirty="0">
                  <a:solidFill>
                    <a:srgbClr val="10312B"/>
                  </a:solidFill>
                  <a:latin typeface="Arial"/>
                  <a:cs typeface="Arial"/>
                </a:rPr>
                <a:t>Large burner</a:t>
              </a:r>
            </a:p>
          </p:txBody>
        </p:sp>
        <p:pic>
          <p:nvPicPr>
            <p:cNvPr id="15" name="Graphic 15" descr="Matchstick flar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473200" y="3505200"/>
              <a:ext cx="762000" cy="762000"/>
            </a:xfrm>
            <a:prstGeom prst="rect">
              <a:avLst/>
            </a:prstGeom>
          </p:spPr>
        </p:pic>
        <p:pic>
          <p:nvPicPr>
            <p:cNvPr id="16" name="Graphic 16" descr="Candl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279900" y="3251200"/>
              <a:ext cx="1016000" cy="1016000"/>
            </a:xfrm>
            <a:prstGeom prst="rect">
              <a:avLst/>
            </a:prstGeom>
          </p:spPr>
        </p:pic>
        <p:pic>
          <p:nvPicPr>
            <p:cNvPr id="17" name="Graphic 17" descr="Small kitchen burner flam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69100" y="2997200"/>
              <a:ext cx="1270000" cy="1270000"/>
            </a:xfrm>
            <a:prstGeom prst="rect">
              <a:avLst/>
            </a:prstGeom>
          </p:spPr>
        </p:pic>
        <p:pic>
          <p:nvPicPr>
            <p:cNvPr id="18" name="Graphic 18" descr="Large kitchen burner flame"/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648825" y="2743200"/>
              <a:ext cx="1524000" cy="1524000"/>
            </a:xfrm>
            <a:prstGeom prst="rect">
              <a:avLst/>
            </a:prstGeom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B2021AAB-3B55-EEE1-4B7E-C11E5CC07F74}"/>
              </a:ext>
            </a:extLst>
          </p:cNvPr>
          <p:cNvSpPr txBox="1"/>
          <p:nvPr/>
        </p:nvSpPr>
        <p:spPr>
          <a:xfrm>
            <a:off x="736600" y="5525480"/>
            <a:ext cx="10617200" cy="732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US" sz="2000" b="1" dirty="0">
                <a:solidFill>
                  <a:srgbClr val="FF0000"/>
                </a:solidFill>
                <a:latin typeface="Arial"/>
                <a:cs typeface="Arial"/>
              </a:rPr>
              <a:t>If you’re not born with it, then submit to a system that will compel it – investors, board, partners etc.  </a:t>
            </a:r>
            <a:endParaRPr lang="en-NG" sz="2000" b="1" dirty="0">
              <a:solidFill>
                <a:srgbClr val="FF0000"/>
              </a:solidFill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38ED0F-F3A1-47D5-84A4-6E0278A48F9A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83863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36C5DC-7127-49C7-B329-48BEFAB6817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47F92-DF45-47CB-8E98-2FA1515BD62C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9A30F6-EE18-488F-82DA-E0E349AA7D62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02   ·   SELF-AWARENESS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2E63F6-C5DF-4106-A8EA-2D392D073E64}"/>
              </a:ext>
            </a:extLst>
          </p:cNvPr>
          <p:cNvSpPr txBox="1"/>
          <p:nvPr/>
        </p:nvSpPr>
        <p:spPr>
          <a:xfrm>
            <a:off x="914400" y="685800"/>
            <a:ext cx="889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Do you actually know yourself?</a:t>
            </a: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 “Ray Dalio” </a:t>
            </a:r>
            <a:endParaRPr lang="en-NG" sz="3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022E16-9E2C-4A81-983E-9506F537C7DA}"/>
              </a:ext>
            </a:extLst>
          </p:cNvPr>
          <p:cNvSpPr/>
          <p:nvPr/>
        </p:nvSpPr>
        <p:spPr>
          <a:xfrm>
            <a:off x="914400" y="1803400"/>
            <a:ext cx="5029200" cy="180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83C881-AA34-4F3E-B554-D0DE858E8D13}"/>
              </a:ext>
            </a:extLst>
          </p:cNvPr>
          <p:cNvSpPr/>
          <p:nvPr/>
        </p:nvSpPr>
        <p:spPr>
          <a:xfrm>
            <a:off x="914400" y="1803400"/>
            <a:ext cx="63500" cy="1803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3ED37C-BE8C-4DAF-8537-AA0C40144CB9}"/>
              </a:ext>
            </a:extLst>
          </p:cNvPr>
          <p:cNvSpPr txBox="1"/>
          <p:nvPr/>
        </p:nvSpPr>
        <p:spPr>
          <a:xfrm>
            <a:off x="1219200" y="2032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DISC   (</a:t>
            </a:r>
            <a:r>
              <a:rPr lang="en-US" sz="2000" b="1" dirty="0">
                <a:solidFill>
                  <a:srgbClr val="10312B"/>
                </a:solidFill>
                <a:latin typeface="Arial"/>
                <a:cs typeface="Arial"/>
              </a:rPr>
              <a:t>what I know</a:t>
            </a: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DBEE9E6-C930-4E6F-B6CA-D1E5736AB7AB}"/>
              </a:ext>
            </a:extLst>
          </p:cNvPr>
          <p:cNvSpPr txBox="1"/>
          <p:nvPr/>
        </p:nvSpPr>
        <p:spPr>
          <a:xfrm>
            <a:off x="1219200" y="24384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Dominance, Influence, Steadiness, Conscientiousness. Fast, practical, and it tells you how you behave under pressure and how you land on other people.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A789528-0B8F-48F4-B0CB-CFAB27B526D2}"/>
              </a:ext>
            </a:extLst>
          </p:cNvPr>
          <p:cNvSpPr/>
          <p:nvPr/>
        </p:nvSpPr>
        <p:spPr>
          <a:xfrm>
            <a:off x="6248400" y="1803400"/>
            <a:ext cx="5029200" cy="180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FB34FCB-A925-4AB0-B3E6-CAB42AF1423E}"/>
              </a:ext>
            </a:extLst>
          </p:cNvPr>
          <p:cNvSpPr/>
          <p:nvPr/>
        </p:nvSpPr>
        <p:spPr>
          <a:xfrm>
            <a:off x="6248400" y="1803400"/>
            <a:ext cx="63500" cy="1803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7693E98-EB46-4210-B7DE-02B8C08145E7}"/>
              </a:ext>
            </a:extLst>
          </p:cNvPr>
          <p:cNvSpPr txBox="1"/>
          <p:nvPr/>
        </p:nvSpPr>
        <p:spPr>
          <a:xfrm>
            <a:off x="6553200" y="2032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Myers-Briggs Type Indicator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120D4C-A870-4A57-AE46-259FDCC81370}"/>
              </a:ext>
            </a:extLst>
          </p:cNvPr>
          <p:cNvSpPr txBox="1"/>
          <p:nvPr/>
        </p:nvSpPr>
        <p:spPr>
          <a:xfrm>
            <a:off x="6553200" y="24384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Sixteen types. How you take in information and how you reach a decision. Useful for understanding why your co-founder frustrates you.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A74A3D-9F7F-48B4-A885-14D65D12331B}"/>
              </a:ext>
            </a:extLst>
          </p:cNvPr>
          <p:cNvSpPr/>
          <p:nvPr/>
        </p:nvSpPr>
        <p:spPr>
          <a:xfrm>
            <a:off x="914400" y="3784600"/>
            <a:ext cx="5029200" cy="180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E0979B1-0417-48A7-ACB0-C14DFDB6D7E6}"/>
              </a:ext>
            </a:extLst>
          </p:cNvPr>
          <p:cNvSpPr/>
          <p:nvPr/>
        </p:nvSpPr>
        <p:spPr>
          <a:xfrm>
            <a:off x="914400" y="3784600"/>
            <a:ext cx="63500" cy="1803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AD12BD-3AE9-4F9F-85C7-221F4AF14B97}"/>
              </a:ext>
            </a:extLst>
          </p:cNvPr>
          <p:cNvSpPr txBox="1"/>
          <p:nvPr/>
        </p:nvSpPr>
        <p:spPr>
          <a:xfrm>
            <a:off x="1219200" y="4013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Big Five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1BB7BF-89BF-4CD6-ACD5-3313099F2386}"/>
              </a:ext>
            </a:extLst>
          </p:cNvPr>
          <p:cNvSpPr txBox="1"/>
          <p:nvPr/>
        </p:nvSpPr>
        <p:spPr>
          <a:xfrm>
            <a:off x="1219200" y="44196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most research-backed of the lot: openness, conscientiousness, extraversion, agreeableness and emotional stability.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A5D2A08-C662-4DF4-A675-7A127A333384}"/>
              </a:ext>
            </a:extLst>
          </p:cNvPr>
          <p:cNvSpPr/>
          <p:nvPr/>
        </p:nvSpPr>
        <p:spPr>
          <a:xfrm>
            <a:off x="6248400" y="3784600"/>
            <a:ext cx="5029200" cy="1803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9CD77BE-017D-49ED-8522-1841E8C8F591}"/>
              </a:ext>
            </a:extLst>
          </p:cNvPr>
          <p:cNvSpPr/>
          <p:nvPr/>
        </p:nvSpPr>
        <p:spPr>
          <a:xfrm>
            <a:off x="6248400" y="3784600"/>
            <a:ext cx="63500" cy="1803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FFEBB66-A1B1-4DBB-888F-C53A439CD0E6}"/>
              </a:ext>
            </a:extLst>
          </p:cNvPr>
          <p:cNvSpPr txBox="1"/>
          <p:nvPr/>
        </p:nvSpPr>
        <p:spPr>
          <a:xfrm>
            <a:off x="6553200" y="4013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CliftonStrengths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0250A2-140B-4402-9089-85429D68A6B8}"/>
              </a:ext>
            </a:extLst>
          </p:cNvPr>
          <p:cNvSpPr txBox="1"/>
          <p:nvPr/>
        </p:nvSpPr>
        <p:spPr>
          <a:xfrm>
            <a:off x="6553200" y="44196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Names your top talents so you build on what you already do well, instead of spending years repairing your weaknesses.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3D23751-ECB5-4793-A2FE-66EAD1C0FA04}"/>
              </a:ext>
            </a:extLst>
          </p:cNvPr>
          <p:cNvSpPr txBox="1"/>
          <p:nvPr/>
        </p:nvSpPr>
        <p:spPr>
          <a:xfrm>
            <a:off x="914400" y="59436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But a founder who </a:t>
            </a:r>
            <a:r>
              <a:rPr lang="en-US" sz="2000" b="1" dirty="0">
                <a:solidFill>
                  <a:srgbClr val="10312B"/>
                </a:solidFill>
                <a:latin typeface="Arial"/>
                <a:cs typeface="Arial"/>
              </a:rPr>
              <a:t>is not self-aware</a:t>
            </a: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 will hire wrong, price wrong and quarrel out of business.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D45B9B6-F838-4EB8-9B73-4F9456BFBA92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1744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A04B70E-68FF-43A1-98A4-282AE7DD4DF5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E924CD8-EEF2-4F69-B192-C9C141D0E2D1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712088-860B-4787-9444-0EF5C16B0A87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02   ·   SELF-AWARENESS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137018-0962-44DC-A11A-CF9BE698C815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Where your strength meets your opportunity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57E581E-CCD0-48E2-AFDA-8E2BAFD88D3E}"/>
              </a:ext>
            </a:extLst>
          </p:cNvPr>
          <p:cNvSpPr/>
          <p:nvPr/>
        </p:nvSpPr>
        <p:spPr>
          <a:xfrm>
            <a:off x="914400" y="1854200"/>
            <a:ext cx="4953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BE0390-6089-4DBF-BD7F-62B0E47A8994}"/>
              </a:ext>
            </a:extLst>
          </p:cNvPr>
          <p:cNvSpPr/>
          <p:nvPr/>
        </p:nvSpPr>
        <p:spPr>
          <a:xfrm>
            <a:off x="914400" y="1854200"/>
            <a:ext cx="63500" cy="2286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AE06D3-A882-48EC-A6C9-37BA3373A6AD}"/>
              </a:ext>
            </a:extLst>
          </p:cNvPr>
          <p:cNvSpPr txBox="1"/>
          <p:nvPr/>
        </p:nvSpPr>
        <p:spPr>
          <a:xfrm>
            <a:off x="1219200" y="2108200"/>
            <a:ext cx="434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What the business demands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D4F8BD-87AE-4523-90C8-5D91820F1057}"/>
              </a:ext>
            </a:extLst>
          </p:cNvPr>
          <p:cNvSpPr txBox="1"/>
          <p:nvPr/>
        </p:nvSpPr>
        <p:spPr>
          <a:xfrm>
            <a:off x="1219200" y="2514600"/>
            <a:ext cx="4343400" cy="147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Every business is heavy in one thing. Some are sales and marketing businesses. Some are technical. Some are relationship and access businesses. Name yours honestly.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1638EA-80B5-4D3A-AFC6-D3544464638C}"/>
              </a:ext>
            </a:extLst>
          </p:cNvPr>
          <p:cNvSpPr/>
          <p:nvPr/>
        </p:nvSpPr>
        <p:spPr>
          <a:xfrm>
            <a:off x="6324600" y="1854200"/>
            <a:ext cx="4953000" cy="228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C5E905-6935-4999-8111-F6CD6F724B31}"/>
              </a:ext>
            </a:extLst>
          </p:cNvPr>
          <p:cNvSpPr/>
          <p:nvPr/>
        </p:nvSpPr>
        <p:spPr>
          <a:xfrm>
            <a:off x="6324600" y="1854200"/>
            <a:ext cx="63500" cy="2286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E012EA-378D-4108-801F-30CEA4CE56EA}"/>
              </a:ext>
            </a:extLst>
          </p:cNvPr>
          <p:cNvSpPr txBox="1"/>
          <p:nvPr/>
        </p:nvSpPr>
        <p:spPr>
          <a:xfrm>
            <a:off x="6629400" y="2108200"/>
            <a:ext cx="434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What you are actually strong at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8217F5-2E72-49A0-9EF9-470BF0E92328}"/>
              </a:ext>
            </a:extLst>
          </p:cNvPr>
          <p:cNvSpPr txBox="1"/>
          <p:nvPr/>
        </p:nvSpPr>
        <p:spPr>
          <a:xfrm>
            <a:off x="6629400" y="2514600"/>
            <a:ext cx="4343400" cy="147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Not what you wish you were. What people already call you for, and what you do well on a bad day when nobody is watching.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C7EA4FD-DB79-44F5-9025-EFE3CCBB81AF}"/>
              </a:ext>
            </a:extLst>
          </p:cNvPr>
          <p:cNvSpPr/>
          <p:nvPr/>
        </p:nvSpPr>
        <p:spPr>
          <a:xfrm>
            <a:off x="914400" y="4419600"/>
            <a:ext cx="10363200" cy="965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361110-A5F9-4086-82B2-9451B2D1B42E}"/>
              </a:ext>
            </a:extLst>
          </p:cNvPr>
          <p:cNvSpPr txBox="1"/>
          <p:nvPr/>
        </p:nvSpPr>
        <p:spPr>
          <a:xfrm>
            <a:off x="1219200" y="4622800"/>
            <a:ext cx="97536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When the two line up, you will look like a genius.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A65B7F-769C-49BA-B927-B02C6A373EF1}"/>
              </a:ext>
            </a:extLst>
          </p:cNvPr>
          <p:cNvSpPr txBox="1"/>
          <p:nvPr/>
        </p:nvSpPr>
        <p:spPr>
          <a:xfrm>
            <a:off x="914400" y="5613400"/>
            <a:ext cx="103632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When they do not, you will work twice as hard for half the result, and people will call it bad luck.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7648-97F5-4107-B5F4-9A470B1E7BA8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9147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3D7B14-AA30-45F4-B1B6-ECB2EB606DC2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22FEB25-3B2C-4A05-954E-C2658F37F232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7B3A2F-6F0B-4A6A-8176-F12987293BB9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02   ·   SELF-AWARENESS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B1E75-0FE0-466B-96CD-4184DA75CC12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Three capabilities you must have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49F394-A917-459A-9FF2-082865E37F10}"/>
              </a:ext>
            </a:extLst>
          </p:cNvPr>
          <p:cNvSpPr/>
          <p:nvPr/>
        </p:nvSpPr>
        <p:spPr>
          <a:xfrm>
            <a:off x="914400" y="1828800"/>
            <a:ext cx="103632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966921B-2079-456F-80C3-CAF43224FF33}"/>
              </a:ext>
            </a:extLst>
          </p:cNvPr>
          <p:cNvSpPr/>
          <p:nvPr/>
        </p:nvSpPr>
        <p:spPr>
          <a:xfrm>
            <a:off x="914400" y="1828800"/>
            <a:ext cx="63500" cy="1270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6C9AF25-F2CB-4B49-B9C8-DF625AF63D81}"/>
              </a:ext>
            </a:extLst>
          </p:cNvPr>
          <p:cNvSpPr/>
          <p:nvPr/>
        </p:nvSpPr>
        <p:spPr>
          <a:xfrm>
            <a:off x="1219200" y="2209800"/>
            <a:ext cx="508000" cy="5080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27BA7D-74E2-43EF-8417-64CAAB377E1B}"/>
              </a:ext>
            </a:extLst>
          </p:cNvPr>
          <p:cNvSpPr txBox="1"/>
          <p:nvPr/>
        </p:nvSpPr>
        <p:spPr>
          <a:xfrm>
            <a:off x="1981200" y="20574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Functional expertise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15E1D-63AA-4956-BA05-6468B3FF7E60}"/>
              </a:ext>
            </a:extLst>
          </p:cNvPr>
          <p:cNvSpPr txBox="1"/>
          <p:nvPr/>
        </p:nvSpPr>
        <p:spPr>
          <a:xfrm>
            <a:off x="1981200" y="24384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understand the technical requirements of your business and how the work should actually be done, including across functions.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F16F12-29FC-4261-9EE4-1E97C023AE1F}"/>
              </a:ext>
            </a:extLst>
          </p:cNvPr>
          <p:cNvSpPr/>
          <p:nvPr/>
        </p:nvSpPr>
        <p:spPr>
          <a:xfrm>
            <a:off x="914400" y="3200400"/>
            <a:ext cx="103632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AA4D30-5480-4547-BE0A-43CD948390DF}"/>
              </a:ext>
            </a:extLst>
          </p:cNvPr>
          <p:cNvSpPr/>
          <p:nvPr/>
        </p:nvSpPr>
        <p:spPr>
          <a:xfrm>
            <a:off x="914400" y="3200400"/>
            <a:ext cx="63500" cy="1270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29B08A0-F582-45F4-A168-5651CB07EF72}"/>
              </a:ext>
            </a:extLst>
          </p:cNvPr>
          <p:cNvSpPr/>
          <p:nvPr/>
        </p:nvSpPr>
        <p:spPr>
          <a:xfrm>
            <a:off x="1219200" y="3581400"/>
            <a:ext cx="508000" cy="5080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F0F69C0-6803-4651-A979-0D95CC65E905}"/>
              </a:ext>
            </a:extLst>
          </p:cNvPr>
          <p:cNvSpPr txBox="1"/>
          <p:nvPr/>
        </p:nvSpPr>
        <p:spPr>
          <a:xfrm>
            <a:off x="1981200" y="34290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General management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D2AF22D-1F05-4B2D-B59C-A5CBFB5AC9F9}"/>
              </a:ext>
            </a:extLst>
          </p:cNvPr>
          <p:cNvSpPr txBox="1"/>
          <p:nvPr/>
        </p:nvSpPr>
        <p:spPr>
          <a:xfrm>
            <a:off x="1981200" y="38100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broader competence to run a business: people, operations, finance, technology and the core technical work behind it.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C4BCF95-2B6E-4AD9-A916-A68F56592C46}"/>
              </a:ext>
            </a:extLst>
          </p:cNvPr>
          <p:cNvSpPr/>
          <p:nvPr/>
        </p:nvSpPr>
        <p:spPr>
          <a:xfrm>
            <a:off x="914400" y="4572000"/>
            <a:ext cx="10363200" cy="1270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96293C-01C5-485E-8E7C-2BC43ED00CF6}"/>
              </a:ext>
            </a:extLst>
          </p:cNvPr>
          <p:cNvSpPr/>
          <p:nvPr/>
        </p:nvSpPr>
        <p:spPr>
          <a:xfrm>
            <a:off x="914400" y="4572000"/>
            <a:ext cx="63500" cy="1270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387C112-E220-4E3D-86CF-5CDCEFA566C0}"/>
              </a:ext>
            </a:extLst>
          </p:cNvPr>
          <p:cNvSpPr/>
          <p:nvPr/>
        </p:nvSpPr>
        <p:spPr>
          <a:xfrm>
            <a:off x="1219200" y="4953000"/>
            <a:ext cx="508000" cy="5080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4C7A-1D7C-4BD4-B4EF-EDDB5210A040}"/>
              </a:ext>
            </a:extLst>
          </p:cNvPr>
          <p:cNvSpPr txBox="1"/>
          <p:nvPr/>
        </p:nvSpPr>
        <p:spPr>
          <a:xfrm>
            <a:off x="1981200" y="4800600"/>
            <a:ext cx="889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Leadership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AE9037-8D0D-4D62-9903-D62F8206EAA3}"/>
              </a:ext>
            </a:extLst>
          </p:cNvPr>
          <p:cNvSpPr txBox="1"/>
          <p:nvPr/>
        </p:nvSpPr>
        <p:spPr>
          <a:xfrm>
            <a:off x="1981200" y="5181600"/>
            <a:ext cx="8890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ability to influence a whole system, and the people inside it, to deliver results. This is the one that decides how far the business goes.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7B1BC0-F5E8-42BC-BA69-33488B181706}"/>
              </a:ext>
            </a:extLst>
          </p:cNvPr>
          <p:cNvSpPr txBox="1"/>
          <p:nvPr/>
        </p:nvSpPr>
        <p:spPr>
          <a:xfrm>
            <a:off x="914400" y="6070600"/>
            <a:ext cx="103632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A weak functional expert can hire. A weak manager can be supported. A weak leader takes the whole business down with him.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0492ED-B700-444A-AAF9-9F02DBC4FAA0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35642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5028B2D-0BAD-4202-9133-FC3F69C633AA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21BE42-277B-4346-A981-F2D9B8AE36BE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0E51BB-A417-4D6B-80D4-FE54800DAF89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3DB9FB1-A2A1-4143-9898-03E1E71F0CA8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MSME route: where you play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F67387-C5E5-4504-9128-1D24EC5CBB8A}"/>
              </a:ext>
            </a:extLst>
          </p:cNvPr>
          <p:cNvSpPr/>
          <p:nvPr/>
        </p:nvSpPr>
        <p:spPr>
          <a:xfrm>
            <a:off x="914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910D8B-2954-4805-BD7A-A12D4F6F43D5}"/>
              </a:ext>
            </a:extLst>
          </p:cNvPr>
          <p:cNvSpPr/>
          <p:nvPr/>
        </p:nvSpPr>
        <p:spPr>
          <a:xfrm>
            <a:off x="914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13D74C-8121-4DE0-8DE0-B5639F8E5DA9}"/>
              </a:ext>
            </a:extLst>
          </p:cNvPr>
          <p:cNvSpPr txBox="1"/>
          <p:nvPr/>
        </p:nvSpPr>
        <p:spPr>
          <a:xfrm>
            <a:off x="1219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Proximity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D5163E-E57C-465A-85EA-6C142651C90D}"/>
              </a:ext>
            </a:extLst>
          </p:cNvPr>
          <p:cNvSpPr txBox="1"/>
          <p:nvPr/>
        </p:nvSpPr>
        <p:spPr>
          <a:xfrm>
            <a:off x="1219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are the only bakery in the estate. The market is the street, and for now the street is enough.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6B6591F-D572-48A1-B130-7CC386FA65C8}"/>
              </a:ext>
            </a:extLst>
          </p:cNvPr>
          <p:cNvSpPr/>
          <p:nvPr/>
        </p:nvSpPr>
        <p:spPr>
          <a:xfrm>
            <a:off x="6248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6EBCBB-3EC1-4C3A-BBE7-FBF8A9DE6580}"/>
              </a:ext>
            </a:extLst>
          </p:cNvPr>
          <p:cNvSpPr/>
          <p:nvPr/>
        </p:nvSpPr>
        <p:spPr>
          <a:xfrm>
            <a:off x="6248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BA3894-9238-4A50-BA16-1F2EE8392D61}"/>
              </a:ext>
            </a:extLst>
          </p:cNvPr>
          <p:cNvSpPr txBox="1"/>
          <p:nvPr/>
        </p:nvSpPr>
        <p:spPr>
          <a:xfrm>
            <a:off x="6553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Access somebody else cannot get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1E8D2B-420E-4768-9771-BF86FA2E7D32}"/>
              </a:ext>
            </a:extLst>
          </p:cNvPr>
          <p:cNvSpPr txBox="1"/>
          <p:nvPr/>
        </p:nvSpPr>
        <p:spPr>
          <a:xfrm>
            <a:off x="6553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distributorship, a licence, an allocation. The access itself is the business, so protect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141619-7926-4D28-9147-4AD4425D1041}"/>
              </a:ext>
            </a:extLst>
          </p:cNvPr>
          <p:cNvSpPr/>
          <p:nvPr/>
        </p:nvSpPr>
        <p:spPr>
          <a:xfrm>
            <a:off x="914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2AF8CBB-DFAE-4E2E-A09A-F281423EE85A}"/>
              </a:ext>
            </a:extLst>
          </p:cNvPr>
          <p:cNvSpPr/>
          <p:nvPr/>
        </p:nvSpPr>
        <p:spPr>
          <a:xfrm>
            <a:off x="914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8E8923-70BB-4F26-9D3A-8DF5869C917B}"/>
              </a:ext>
            </a:extLst>
          </p:cNvPr>
          <p:cNvSpPr txBox="1"/>
          <p:nvPr/>
        </p:nvSpPr>
        <p:spPr>
          <a:xfrm>
            <a:off x="1219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An unserved gap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0CC805-3A25-4C93-BCBC-2453FF709BF1}"/>
              </a:ext>
            </a:extLst>
          </p:cNvPr>
          <p:cNvSpPr txBox="1"/>
          <p:nvPr/>
        </p:nvSpPr>
        <p:spPr>
          <a:xfrm>
            <a:off x="1219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product people already buy, but nobody nearby sells it well, or sells it at all.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5F4F9D5-D04E-4AA1-BE26-8C68B3DE3A18}"/>
              </a:ext>
            </a:extLst>
          </p:cNvPr>
          <p:cNvSpPr/>
          <p:nvPr/>
        </p:nvSpPr>
        <p:spPr>
          <a:xfrm>
            <a:off x="6248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E9AC0D-83AD-4C0B-945E-8CC96CE082D1}"/>
              </a:ext>
            </a:extLst>
          </p:cNvPr>
          <p:cNvSpPr/>
          <p:nvPr/>
        </p:nvSpPr>
        <p:spPr>
          <a:xfrm>
            <a:off x="6248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21FCAC-4CAA-4AC5-8D31-4535F167A054}"/>
              </a:ext>
            </a:extLst>
          </p:cNvPr>
          <p:cNvSpPr txBox="1"/>
          <p:nvPr/>
        </p:nvSpPr>
        <p:spPr>
          <a:xfrm>
            <a:off x="6553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gift of small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2C7A687-55AE-496B-B233-79468CDF1886}"/>
              </a:ext>
            </a:extLst>
          </p:cNvPr>
          <p:cNvSpPr txBox="1"/>
          <p:nvPr/>
        </p:nvSpPr>
        <p:spPr>
          <a:xfrm>
            <a:off x="6553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can incubate quietly, with no board and no noise, until the thing looks attractive to a partner, a bigger player or a buyer.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0824F1-3D26-4E46-8341-CDA25687FB96}"/>
              </a:ext>
            </a:extLst>
          </p:cNvPr>
          <p:cNvSpPr txBox="1"/>
          <p:nvPr/>
        </p:nvSpPr>
        <p:spPr>
          <a:xfrm>
            <a:off x="914400" y="58674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This room is not about extra income for the family. Be an MSME if you choose, but be a distinguished one.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5C9E54-3857-4587-827C-EA462D33831B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33720915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   ·   MSME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Small start, serious finish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Win Win Kitchen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Froze meat pies, fish pies and chicken pies out of a bedroom. Outgrew the freezers, built a proper factory with real manufacturing equipment, and ended up supplying Shoprite.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Elizade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200" y="23368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Michael Ade-Ojo walked away from a secure job at British Petroleum and sold cars on commission. Elizade followed in 1971, and the family firm became the Toyota business in Nigeria.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LAPO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Godwin Ehigiamusoe started LAPO in 1987 as a small non-profit lending to poor households. It won a Central Bank microfinance licence in 2010 and a national licence in 2012.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Beloxxi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200" y="45212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Obi Ezeude imported biscuits from 1994. When imports were banned he built his own factory in 2006, and in 2016 sold a minority stake for eighty million dollars.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Own the recipe. Own the access. Serve the underserved. Replace the import.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76BC20-1A4E-4DC8-AD31-8E078329ABA9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48029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4E8CD4D-23A1-4A78-AC40-3CD41146009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4ED8EA-7BB6-4A52-8594-F25D25B0DC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573A8-E3A5-43B0-A70C-EEEB531FAEA0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7DB5C-2D30-4EEF-9E48-0312730FFDB1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start-up route: problem, solution, position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6B3B7E-9FDE-4C41-B6B3-8F9487776BA6}"/>
              </a:ext>
            </a:extLst>
          </p:cNvPr>
          <p:cNvSpPr/>
          <p:nvPr/>
        </p:nvSpPr>
        <p:spPr>
          <a:xfrm>
            <a:off x="914400" y="1854200"/>
            <a:ext cx="3302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942F13-EE6F-4021-8D2A-CBEC5B340A91}"/>
              </a:ext>
            </a:extLst>
          </p:cNvPr>
          <p:cNvSpPr/>
          <p:nvPr/>
        </p:nvSpPr>
        <p:spPr>
          <a:xfrm>
            <a:off x="914400" y="1854200"/>
            <a:ext cx="33020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C95E74-8EEA-4BAE-96A9-3622532DCCB3}"/>
              </a:ext>
            </a:extLst>
          </p:cNvPr>
          <p:cNvSpPr/>
          <p:nvPr/>
        </p:nvSpPr>
        <p:spPr>
          <a:xfrm>
            <a:off x="1193800" y="2184400"/>
            <a:ext cx="482600" cy="4826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A5843E-9570-4F67-A2CE-643B7E655586}"/>
              </a:ext>
            </a:extLst>
          </p:cNvPr>
          <p:cNvSpPr txBox="1"/>
          <p:nvPr/>
        </p:nvSpPr>
        <p:spPr>
          <a:xfrm>
            <a:off x="1193800" y="2844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problem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B6A1A9-BED7-4E05-BCF0-C93CC70007DD}"/>
              </a:ext>
            </a:extLst>
          </p:cNvPr>
          <p:cNvSpPr txBox="1"/>
          <p:nvPr/>
        </p:nvSpPr>
        <p:spPr>
          <a:xfrm>
            <a:off x="1193800" y="3251200"/>
            <a:ext cx="27432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Usually something you have lived, not something you read. It does not have to be passion.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04D804-8305-49D6-9539-4F9F89846ADA}"/>
              </a:ext>
            </a:extLst>
          </p:cNvPr>
          <p:cNvSpPr/>
          <p:nvPr/>
        </p:nvSpPr>
        <p:spPr>
          <a:xfrm>
            <a:off x="4445000" y="1854200"/>
            <a:ext cx="3302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7EAE3A-26CC-4B1B-9DAE-26150A11D830}"/>
              </a:ext>
            </a:extLst>
          </p:cNvPr>
          <p:cNvSpPr/>
          <p:nvPr/>
        </p:nvSpPr>
        <p:spPr>
          <a:xfrm>
            <a:off x="4445000" y="1854200"/>
            <a:ext cx="33020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6BD7632-E87A-4822-9F9F-DB3E881047C8}"/>
              </a:ext>
            </a:extLst>
          </p:cNvPr>
          <p:cNvSpPr/>
          <p:nvPr/>
        </p:nvSpPr>
        <p:spPr>
          <a:xfrm>
            <a:off x="4724400" y="2184400"/>
            <a:ext cx="482600" cy="4826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8711512-F8F4-4041-910C-3E7666B6E76A}"/>
              </a:ext>
            </a:extLst>
          </p:cNvPr>
          <p:cNvSpPr txBox="1"/>
          <p:nvPr/>
        </p:nvSpPr>
        <p:spPr>
          <a:xfrm>
            <a:off x="4724400" y="2844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solution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09FA10A-369A-4416-BFC9-6644DFC7B6DA}"/>
              </a:ext>
            </a:extLst>
          </p:cNvPr>
          <p:cNvSpPr txBox="1"/>
          <p:nvPr/>
        </p:nvSpPr>
        <p:spPr>
          <a:xfrm>
            <a:off x="4724400" y="3251200"/>
            <a:ext cx="27432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What you actually build, and why it answers the problem better than whatever people are using today.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B72DEA-9E8C-4B42-9B4C-94E8AC1BC1EC}"/>
              </a:ext>
            </a:extLst>
          </p:cNvPr>
          <p:cNvSpPr/>
          <p:nvPr/>
        </p:nvSpPr>
        <p:spPr>
          <a:xfrm>
            <a:off x="7975600" y="1854200"/>
            <a:ext cx="3302000" cy="3175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D69783B-006A-458D-81DD-8D5BAA27A9B3}"/>
              </a:ext>
            </a:extLst>
          </p:cNvPr>
          <p:cNvSpPr/>
          <p:nvPr/>
        </p:nvSpPr>
        <p:spPr>
          <a:xfrm>
            <a:off x="7975600" y="1854200"/>
            <a:ext cx="33020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BDE98D6-DBA3-4B76-B3EC-AA19D90B25DD}"/>
              </a:ext>
            </a:extLst>
          </p:cNvPr>
          <p:cNvSpPr/>
          <p:nvPr/>
        </p:nvSpPr>
        <p:spPr>
          <a:xfrm>
            <a:off x="8255000" y="2184400"/>
            <a:ext cx="482600" cy="4826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1600" b="1" dirty="0">
                <a:solidFill>
                  <a:srgbClr val="10312B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D1F7EB-6BFD-45C3-9CF3-FE475EE6F8E2}"/>
              </a:ext>
            </a:extLst>
          </p:cNvPr>
          <p:cNvSpPr txBox="1"/>
          <p:nvPr/>
        </p:nvSpPr>
        <p:spPr>
          <a:xfrm>
            <a:off x="8255000" y="2844800"/>
            <a:ext cx="274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position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7B4EE7-BEEA-4E19-965B-7F897ACF63FE}"/>
              </a:ext>
            </a:extLst>
          </p:cNvPr>
          <p:cNvSpPr txBox="1"/>
          <p:nvPr/>
        </p:nvSpPr>
        <p:spPr>
          <a:xfrm>
            <a:off x="8255000" y="3251200"/>
            <a:ext cx="2743200" cy="157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How yours is different, and who it is different for. Not better in general. Better for somebody specific.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D311ED2-A1CE-4711-A73A-A5EDD34E7D8D}"/>
              </a:ext>
            </a:extLst>
          </p:cNvPr>
          <p:cNvSpPr txBox="1"/>
          <p:nvPr/>
        </p:nvSpPr>
        <p:spPr>
          <a:xfrm>
            <a:off x="914400" y="5384800"/>
            <a:ext cx="10363200" cy="1117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If you cannot say why yours is different in one sentence, you do not have a business yet. You have a preference.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88E1C8-1A32-4DB9-924D-98112B7B82DB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46125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   ·   START-UP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Built to be bought</a:t>
            </a: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 or go public </a:t>
            </a:r>
            <a:endParaRPr lang="en-NG" sz="32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Paystack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Two Nigerians solving one problem: letting a business take payment online. Y Combinator backed them, and Stripe bought the company in 2020 for a reported two hundred million dollars.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Andela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200" y="23368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Founded in Lagos in 2014 to train African engineers and place them with global companies. In September 2021 a two hundred million dollar round led by SoftBank made it a unicorn.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Flutterwave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Started in 2016 building payment rails across African markets. By March 2021 a one hundred and seventy million dollar round valued it above one billion dollars.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Airbnb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200" y="4521200"/>
            <a:ext cx="44196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Three men rented air mattresses in their own flat because they could not pay rent. Y Combinator took them in, and the company listed on the public market in 2020.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Three Nigerian, one foreign. All four started small, and all four were built to be owned by somebody else.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5D03E6-1DF1-4129-ADED-8017C037E540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4011894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D75B1D9-2F18-4D3B-9EC1-BA27955B02F1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04DC81-8EE5-493D-9EED-67AA4713B2D4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1A6640-C6E3-4964-9F09-83AA496CDD4E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86645-BF06-476D-92F5-74C52D56A7AC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professional service route: where you play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43C7EE-349F-4FB1-945F-5F828BD18E35}"/>
              </a:ext>
            </a:extLst>
          </p:cNvPr>
          <p:cNvSpPr/>
          <p:nvPr/>
        </p:nvSpPr>
        <p:spPr>
          <a:xfrm>
            <a:off x="914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5BF1E43-9742-4CC9-94E1-F94C00E52405}"/>
              </a:ext>
            </a:extLst>
          </p:cNvPr>
          <p:cNvSpPr/>
          <p:nvPr/>
        </p:nvSpPr>
        <p:spPr>
          <a:xfrm>
            <a:off x="914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96489-2990-404F-98CA-C5FA00254EC3}"/>
              </a:ext>
            </a:extLst>
          </p:cNvPr>
          <p:cNvSpPr txBox="1"/>
          <p:nvPr/>
        </p:nvSpPr>
        <p:spPr>
          <a:xfrm>
            <a:off x="1219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licence draws the boundary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DFED7-5604-434F-B175-7149AF0E88C0}"/>
              </a:ext>
            </a:extLst>
          </p:cNvPr>
          <p:cNvSpPr txBox="1"/>
          <p:nvPr/>
        </p:nvSpPr>
        <p:spPr>
          <a:xfrm>
            <a:off x="1219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regulator has already defined your market. Your competition is everybody else holding the same certificate.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064570-E5B7-47F5-AFE3-CF03292D1F92}"/>
              </a:ext>
            </a:extLst>
          </p:cNvPr>
          <p:cNvSpPr/>
          <p:nvPr/>
        </p:nvSpPr>
        <p:spPr>
          <a:xfrm>
            <a:off x="6248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C566E92-1033-4165-BEEB-73330584DD95}"/>
              </a:ext>
            </a:extLst>
          </p:cNvPr>
          <p:cNvSpPr/>
          <p:nvPr/>
        </p:nvSpPr>
        <p:spPr>
          <a:xfrm>
            <a:off x="6248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410085-B0AC-40ED-B150-35CAC804F3EB}"/>
              </a:ext>
            </a:extLst>
          </p:cNvPr>
          <p:cNvSpPr txBox="1"/>
          <p:nvPr/>
        </p:nvSpPr>
        <p:spPr>
          <a:xfrm>
            <a:off x="6553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Reputation is your 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E8BB34-5469-4F04-AE8C-BD61B01F3AE6}"/>
              </a:ext>
            </a:extLst>
          </p:cNvPr>
          <p:cNvSpPr txBox="1"/>
          <p:nvPr/>
        </p:nvSpPr>
        <p:spPr>
          <a:xfrm>
            <a:off x="6553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Referral, not advertising. Your last client is your next client, and your worst job travels faster than your best.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6422FAB-2754-4704-AE88-FB9ED00549CC}"/>
              </a:ext>
            </a:extLst>
          </p:cNvPr>
          <p:cNvSpPr/>
          <p:nvPr/>
        </p:nvSpPr>
        <p:spPr>
          <a:xfrm>
            <a:off x="914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6F7BE50-7AE1-4CA3-A852-76F9FD0EA35E}"/>
              </a:ext>
            </a:extLst>
          </p:cNvPr>
          <p:cNvSpPr/>
          <p:nvPr/>
        </p:nvSpPr>
        <p:spPr>
          <a:xfrm>
            <a:off x="914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6EABFB-B54B-48D1-BC1E-05BBE97CB7ED}"/>
              </a:ext>
            </a:extLst>
          </p:cNvPr>
          <p:cNvSpPr txBox="1"/>
          <p:nvPr/>
        </p:nvSpPr>
        <p:spPr>
          <a:xfrm>
            <a:off x="1219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Niche beats general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D8BC43-B712-4A29-9E20-CEB1D06A4317}"/>
              </a:ext>
            </a:extLst>
          </p:cNvPr>
          <p:cNvSpPr txBox="1"/>
          <p:nvPr/>
        </p:nvSpPr>
        <p:spPr>
          <a:xfrm>
            <a:off x="1219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dentist who does implants. The lawyer who does energy contracts. Narrow practices charge more and argue less.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19BE49-07F0-4D55-88AE-AA96E028B2A5}"/>
              </a:ext>
            </a:extLst>
          </p:cNvPr>
          <p:cNvSpPr/>
          <p:nvPr/>
        </p:nvSpPr>
        <p:spPr>
          <a:xfrm>
            <a:off x="6248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76F12F-7C5F-4A0F-B6B9-3A4864CE77E2}"/>
              </a:ext>
            </a:extLst>
          </p:cNvPr>
          <p:cNvSpPr/>
          <p:nvPr/>
        </p:nvSpPr>
        <p:spPr>
          <a:xfrm>
            <a:off x="6248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E85975-699B-4CCF-BC75-C09AA54BE9E7}"/>
              </a:ext>
            </a:extLst>
          </p:cNvPr>
          <p:cNvSpPr txBox="1"/>
          <p:nvPr/>
        </p:nvSpPr>
        <p:spPr>
          <a:xfrm>
            <a:off x="6553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Sit close to the money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291B00-8FA0-46BE-8C6D-27283EF59EF2}"/>
              </a:ext>
            </a:extLst>
          </p:cNvPr>
          <p:cNvSpPr txBox="1"/>
          <p:nvPr/>
        </p:nvSpPr>
        <p:spPr>
          <a:xfrm>
            <a:off x="6553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Position where the fees actually are: corporates, regulated sectors, institutions with a budget line for you.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E15264-D444-454E-9C6E-053EADD6E130}"/>
              </a:ext>
            </a:extLst>
          </p:cNvPr>
          <p:cNvSpPr txBox="1"/>
          <p:nvPr/>
        </p:nvSpPr>
        <p:spPr>
          <a:xfrm>
            <a:off x="914400" y="58674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In a licensed market everybody has the certificate. The one known for one thing gets paid the most.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EBCBD5-24E0-4310-B3C5-8728E3778318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319765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   ·   PROFESSIONAL SERVICE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From practitioner to institution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Schubbs Dental Clinics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Dr Bode and Dr Laite Karunwi opened a single dental chair in Apapa in 1988. It is now an upscale chain across Apapa, Ikeja and Ikoyi, with one founder running management rather than the chair.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Aluko &amp; Oyebode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partnership formed in 1993 grew into one of Nigeria's largest full-service law firms, acting for banks, oil companies and multinationals. The name outlives any single partner.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Tony Robbins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One man speaking in a room became live events, books, courses, a coaching faculty trained in his method, and a portfolio of businesses.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Phillips Consulting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Foluso Phillips set up in 1992, selling training and systems to the banks. It became the largest indigenous management consulting firm, with its own outsourcing subsidiary.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10312B"/>
                </a:solidFill>
                <a:latin typeface="Arial"/>
                <a:cs typeface="Arial"/>
              </a:rPr>
              <a:t>You’re building a reputation and a brand</a:t>
            </a:r>
            <a:endParaRPr lang="en-NG" sz="1800" b="1" dirty="0">
              <a:solidFill>
                <a:srgbClr val="10312B"/>
              </a:solidFill>
              <a:latin typeface="Arial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0C6CA7F-40B3-4327-8582-7DB3B5B089B1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3158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0136ED-D454-4061-BD5E-33833BCB3331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97277F-9258-4DB4-BF0F-BDDF582B31D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B1EF2C-6BB1-45B7-83CA-C6DA9A94502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8DF5CB-5ACB-4040-A517-5167F6160591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development route: where you play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E5E1A5-33B8-47D8-9EFD-EAF44CCFD1C9}"/>
              </a:ext>
            </a:extLst>
          </p:cNvPr>
          <p:cNvSpPr/>
          <p:nvPr/>
        </p:nvSpPr>
        <p:spPr>
          <a:xfrm>
            <a:off x="914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0158404-9154-4D47-B3DD-2A2DA7552D77}"/>
              </a:ext>
            </a:extLst>
          </p:cNvPr>
          <p:cNvSpPr/>
          <p:nvPr/>
        </p:nvSpPr>
        <p:spPr>
          <a:xfrm>
            <a:off x="914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32698C-CF2B-4C77-A1B5-615A012798A6}"/>
              </a:ext>
            </a:extLst>
          </p:cNvPr>
          <p:cNvSpPr txBox="1"/>
          <p:nvPr/>
        </p:nvSpPr>
        <p:spPr>
          <a:xfrm>
            <a:off x="1219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need is not the market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404E67-3E4C-4889-9760-39256571868B}"/>
              </a:ext>
            </a:extLst>
          </p:cNvPr>
          <p:cNvSpPr txBox="1"/>
          <p:nvPr/>
        </p:nvSpPr>
        <p:spPr>
          <a:xfrm>
            <a:off x="1219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Need is everywhere. Funding is not. Learn the funder's priorities for this cycle before you design anything.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F98E16-6039-4701-9DA1-A5C79C0A7958}"/>
              </a:ext>
            </a:extLst>
          </p:cNvPr>
          <p:cNvSpPr/>
          <p:nvPr/>
        </p:nvSpPr>
        <p:spPr>
          <a:xfrm>
            <a:off x="6248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24B98D-CC52-42C2-8528-768FCC3CF2DE}"/>
              </a:ext>
            </a:extLst>
          </p:cNvPr>
          <p:cNvSpPr/>
          <p:nvPr/>
        </p:nvSpPr>
        <p:spPr>
          <a:xfrm>
            <a:off x="6248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95EAA6-381A-4D13-B0BA-BE787B7CD545}"/>
              </a:ext>
            </a:extLst>
          </p:cNvPr>
          <p:cNvSpPr txBox="1"/>
          <p:nvPr/>
        </p:nvSpPr>
        <p:spPr>
          <a:xfrm>
            <a:off x="6553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One issue, one place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DE1407-74CC-4889-8301-A0C27A1B38F0}"/>
              </a:ext>
            </a:extLst>
          </p:cNvPr>
          <p:cNvSpPr txBox="1"/>
          <p:nvPr/>
        </p:nvSpPr>
        <p:spPr>
          <a:xfrm>
            <a:off x="6553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Depth is what earns the second grant. A scattered organisation looks busy and raises nothing.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7A044B9-4815-4D10-A829-3C418A50EDA9}"/>
              </a:ext>
            </a:extLst>
          </p:cNvPr>
          <p:cNvSpPr/>
          <p:nvPr/>
        </p:nvSpPr>
        <p:spPr>
          <a:xfrm>
            <a:off x="914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852ABC-29DA-4FA9-9573-ECE38E09B6F1}"/>
              </a:ext>
            </a:extLst>
          </p:cNvPr>
          <p:cNvSpPr/>
          <p:nvPr/>
        </p:nvSpPr>
        <p:spPr>
          <a:xfrm>
            <a:off x="914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961073D-168F-4202-9480-B8E1652875AF}"/>
              </a:ext>
            </a:extLst>
          </p:cNvPr>
          <p:cNvSpPr txBox="1"/>
          <p:nvPr/>
        </p:nvSpPr>
        <p:spPr>
          <a:xfrm>
            <a:off x="1219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Evidence is your product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56C1BE4-A1F5-44A4-BC08-1F0CC26ACA46}"/>
              </a:ext>
            </a:extLst>
          </p:cNvPr>
          <p:cNvSpPr txBox="1"/>
          <p:nvPr/>
        </p:nvSpPr>
        <p:spPr>
          <a:xfrm>
            <a:off x="1219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Numbers, records, photographs, reports. What you can prove is what you can raise next year.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D96BF7B-7D64-4E5E-AFDA-D5DB88D2CE69}"/>
              </a:ext>
            </a:extLst>
          </p:cNvPr>
          <p:cNvSpPr/>
          <p:nvPr/>
        </p:nvSpPr>
        <p:spPr>
          <a:xfrm>
            <a:off x="6248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2BF501-9471-4E06-B6B6-A9FBE98725A6}"/>
              </a:ext>
            </a:extLst>
          </p:cNvPr>
          <p:cNvSpPr/>
          <p:nvPr/>
        </p:nvSpPr>
        <p:spPr>
          <a:xfrm>
            <a:off x="6248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FC598-2610-49CA-8A35-D29199519951}"/>
              </a:ext>
            </a:extLst>
          </p:cNvPr>
          <p:cNvSpPr txBox="1"/>
          <p:nvPr/>
        </p:nvSpPr>
        <p:spPr>
          <a:xfrm>
            <a:off x="6553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Partnership is your entry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6D1D7D-51A7-4C83-8497-9790B5E374CA}"/>
              </a:ext>
            </a:extLst>
          </p:cNvPr>
          <p:cNvSpPr txBox="1"/>
          <p:nvPr/>
        </p:nvSpPr>
        <p:spPr>
          <a:xfrm>
            <a:off x="6553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letter from the local government, a school, a bigger organisation. Standing opens doors that budgets cannot.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0E84A0E-06DC-4D7F-B731-2143D7DF6345}"/>
              </a:ext>
            </a:extLst>
          </p:cNvPr>
          <p:cNvSpPr txBox="1"/>
          <p:nvPr/>
        </p:nvSpPr>
        <p:spPr>
          <a:xfrm>
            <a:off x="914400" y="58674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Do not chase every call for proposals. A scattered organisation raises small money and dies tired.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5D2532-D89C-4001-8D2B-63FA65F3BC10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837404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03   ·   MARKET AND INDUSTRY   ·   DEVELOPMENT ORGANISATION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Doing good, built properly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LEAP Africa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Ndidi Nwuneli started it in 2002 to build leadership in young Africans. Programmes, books and a large alumni network now carry the work beyond her.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Fate Foundation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Fola Adeola started it in Lagos in 1999 to train and support Nigerian entrepreneurs. Decades of alumni now carry the brand for it.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Tony Elumelu Foundation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Committed one hundred million dollars in 2015 to fund ten thousand African entrepreneurs, with seed capital, training and mentoring at scale.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ACT Foundation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grant-making foundation born of banking wealth, funding health, education, environment and entrepreneurship across Africa. It gives money rather than chasing it.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Train the people, build the brand, or fund at scale. Anything but waiting.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546CA3-B12E-474B-BB6D-C8AF433743AA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619121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BD266EF-4D59-4E97-9DD4-95F3E1E5DA10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D923D0-0486-4595-A053-B6DB78711F1C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2A6850-7A08-444C-845F-B7005380B083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04   ·   BUSINESS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D6C7EC-E898-4150-9B8D-729582CBC570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MSME plays that actually built businesses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35DCDB-15B9-4346-918D-949F25BDDC97}"/>
              </a:ext>
            </a:extLst>
          </p:cNvPr>
          <p:cNvSpPr/>
          <p:nvPr/>
        </p:nvSpPr>
        <p:spPr>
          <a:xfrm>
            <a:off x="914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144091-7A9B-41B9-B912-16C19968759B}"/>
              </a:ext>
            </a:extLst>
          </p:cNvPr>
          <p:cNvSpPr/>
          <p:nvPr/>
        </p:nvSpPr>
        <p:spPr>
          <a:xfrm>
            <a:off x="914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5E1324-FCCF-4761-96E3-04706EA4D408}"/>
              </a:ext>
            </a:extLst>
          </p:cNvPr>
          <p:cNvSpPr txBox="1"/>
          <p:nvPr/>
        </p:nvSpPr>
        <p:spPr>
          <a:xfrm>
            <a:off x="1219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Own the access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EE3025-6510-4359-AFCF-C91723A3D2E6}"/>
              </a:ext>
            </a:extLst>
          </p:cNvPr>
          <p:cNvSpPr txBox="1"/>
          <p:nvPr/>
        </p:nvSpPr>
        <p:spPr>
          <a:xfrm>
            <a:off x="1219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Find a specialty product abroad, secure the sole distributorship, and build the business on access nobody else has.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787EF9-294C-483D-AF26-3A7782132333}"/>
              </a:ext>
            </a:extLst>
          </p:cNvPr>
          <p:cNvSpPr/>
          <p:nvPr/>
        </p:nvSpPr>
        <p:spPr>
          <a:xfrm>
            <a:off x="6248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B32E26-59B4-4666-B850-E8680AE12495}"/>
              </a:ext>
            </a:extLst>
          </p:cNvPr>
          <p:cNvSpPr/>
          <p:nvPr/>
        </p:nvSpPr>
        <p:spPr>
          <a:xfrm>
            <a:off x="6248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276591-D3C0-46B9-8E32-BEC835C92EA4}"/>
              </a:ext>
            </a:extLst>
          </p:cNvPr>
          <p:cNvSpPr txBox="1"/>
          <p:nvPr/>
        </p:nvSpPr>
        <p:spPr>
          <a:xfrm>
            <a:off x="6553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Own the recipe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8A533E-F6AD-4DFD-9704-291744F3B4DD}"/>
              </a:ext>
            </a:extLst>
          </p:cNvPr>
          <p:cNvSpPr txBox="1"/>
          <p:nvPr/>
        </p:nvSpPr>
        <p:spPr>
          <a:xfrm>
            <a:off x="6553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Manufacture your own formula, grow the brand deliberately, and make yourself worth buying to a corporate.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AAD334-2ADA-4E2F-BB5A-DE4158DFC483}"/>
              </a:ext>
            </a:extLst>
          </p:cNvPr>
          <p:cNvSpPr/>
          <p:nvPr/>
        </p:nvSpPr>
        <p:spPr>
          <a:xfrm>
            <a:off x="914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92F643-4A48-4140-99BE-DC9D5291DA1A}"/>
              </a:ext>
            </a:extLst>
          </p:cNvPr>
          <p:cNvSpPr/>
          <p:nvPr/>
        </p:nvSpPr>
        <p:spPr>
          <a:xfrm>
            <a:off x="914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6B43DD-B151-4979-AC0F-33F93800A17B}"/>
              </a:ext>
            </a:extLst>
          </p:cNvPr>
          <p:cNvSpPr txBox="1"/>
          <p:nvPr/>
        </p:nvSpPr>
        <p:spPr>
          <a:xfrm>
            <a:off x="1219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Supply the corporate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25B081-6B98-4A2D-8A1C-0FE390E47718}"/>
              </a:ext>
            </a:extLst>
          </p:cNvPr>
          <p:cNvSpPr txBox="1"/>
          <p:nvPr/>
        </p:nvSpPr>
        <p:spPr>
          <a:xfrm>
            <a:off x="1219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Sit down with a big company and become their contractor. A small, faithful window into a very large pipeline.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BDF64FF-7F85-4619-9B35-C33D3D06EDC5}"/>
              </a:ext>
            </a:extLst>
          </p:cNvPr>
          <p:cNvSpPr/>
          <p:nvPr/>
        </p:nvSpPr>
        <p:spPr>
          <a:xfrm>
            <a:off x="6248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E4F8715-DBA9-4CAD-9443-9DA750D3F3AD}"/>
              </a:ext>
            </a:extLst>
          </p:cNvPr>
          <p:cNvSpPr/>
          <p:nvPr/>
        </p:nvSpPr>
        <p:spPr>
          <a:xfrm>
            <a:off x="6248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030F0E-023B-4157-9E66-96556E83DB05}"/>
              </a:ext>
            </a:extLst>
          </p:cNvPr>
          <p:cNvSpPr txBox="1"/>
          <p:nvPr/>
        </p:nvSpPr>
        <p:spPr>
          <a:xfrm>
            <a:off x="6553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Plug into money that pays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0B3D50A-F334-428E-A9AE-75782EB8AF34}"/>
              </a:ext>
            </a:extLst>
          </p:cNvPr>
          <p:cNvSpPr txBox="1"/>
          <p:nvPr/>
        </p:nvSpPr>
        <p:spPr>
          <a:xfrm>
            <a:off x="6553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Oil and gas servicing, banks, institutions, wealthy clients. Serve people who can afford your invoice.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AD0C7C5-BD0B-4FB4-8AAF-BFDAF6BCDE1D}"/>
              </a:ext>
            </a:extLst>
          </p:cNvPr>
          <p:cNvSpPr txBox="1"/>
          <p:nvPr/>
        </p:nvSpPr>
        <p:spPr>
          <a:xfrm>
            <a:off x="914400" y="5816600"/>
            <a:ext cx="1036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The trap is starting with family and friends and staying there. An MSME that is afraid to charge will stay stunted.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E530E3-F95A-4419-867F-51E17D8E10E3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221544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9BFFA0F-C0AC-4E86-96DF-A31BA4B4B88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A4DD6FF-00BC-48F2-90D3-868FA1604A12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36D9DA-A98E-4ADD-9882-5DCB75085BE8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04   ·   BUSINESS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C89C1C-568C-4E2A-82B4-756088FB2F71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Value or volume. Pick one.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18A9C25-2649-4515-A758-E3CDCC874C40}"/>
              </a:ext>
            </a:extLst>
          </p:cNvPr>
          <p:cNvSpPr/>
          <p:nvPr/>
        </p:nvSpPr>
        <p:spPr>
          <a:xfrm>
            <a:off x="914400" y="1803400"/>
            <a:ext cx="5029200" cy="241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3A740-CEEA-4231-BB50-822D38062464}"/>
              </a:ext>
            </a:extLst>
          </p:cNvPr>
          <p:cNvSpPr/>
          <p:nvPr/>
        </p:nvSpPr>
        <p:spPr>
          <a:xfrm>
            <a:off x="914400" y="1803400"/>
            <a:ext cx="50292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FA1F6-961E-4BD2-9CF8-F2849B974A3B}"/>
              </a:ext>
            </a:extLst>
          </p:cNvPr>
          <p:cNvSpPr txBox="1"/>
          <p:nvPr/>
        </p:nvSpPr>
        <p:spPr>
          <a:xfrm>
            <a:off x="1219200" y="2108200"/>
            <a:ext cx="441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VALUE   is Mercedes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19116-593A-4B64-B458-10EDE4F28F29}"/>
              </a:ext>
            </a:extLst>
          </p:cNvPr>
          <p:cNvSpPr txBox="1"/>
          <p:nvPr/>
        </p:nvSpPr>
        <p:spPr>
          <a:xfrm>
            <a:off x="1219200" y="2590800"/>
            <a:ext cx="44196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Fewer customers, higher price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Customised quality, every time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Serve only those who can afford you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Reputation carries the pricing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D280AD0-08CC-4714-ACBA-6A7A6C5D9F8A}"/>
              </a:ext>
            </a:extLst>
          </p:cNvPr>
          <p:cNvSpPr/>
          <p:nvPr/>
        </p:nvSpPr>
        <p:spPr>
          <a:xfrm>
            <a:off x="6248400" y="1803400"/>
            <a:ext cx="5029200" cy="2413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54AB62-7AC6-4FA3-BAF1-09D245C44229}"/>
              </a:ext>
            </a:extLst>
          </p:cNvPr>
          <p:cNvSpPr/>
          <p:nvPr/>
        </p:nvSpPr>
        <p:spPr>
          <a:xfrm>
            <a:off x="6248400" y="1803400"/>
            <a:ext cx="50292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D826C-4077-46D1-A7E5-329576D58A2C}"/>
              </a:ext>
            </a:extLst>
          </p:cNvPr>
          <p:cNvSpPr txBox="1"/>
          <p:nvPr/>
        </p:nvSpPr>
        <p:spPr>
          <a:xfrm>
            <a:off x="6553200" y="2108200"/>
            <a:ext cx="4419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8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VOLUME   is Amazon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EF3875-B384-4023-9044-143F427DC53A}"/>
              </a:ext>
            </a:extLst>
          </p:cNvPr>
          <p:cNvSpPr txBox="1"/>
          <p:nvPr/>
        </p:nvSpPr>
        <p:spPr>
          <a:xfrm>
            <a:off x="6553200" y="2590800"/>
            <a:ext cx="44196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Many customers, thin margin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win on cost, not on charm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It only works at real scale</a:t>
            </a:r>
          </a:p>
          <a:p>
            <a:pPr marL="200025" indent="-200025">
              <a:lnSpc>
                <a:spcPct val="106000"/>
              </a:lnSpc>
              <a:spcBef>
                <a:spcPts val="6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Know your point in the value chain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946E19-302D-42DC-A670-06020937AF92}"/>
              </a:ext>
            </a:extLst>
          </p:cNvPr>
          <p:cNvSpPr/>
          <p:nvPr/>
        </p:nvSpPr>
        <p:spPr>
          <a:xfrm>
            <a:off x="914400" y="4368800"/>
            <a:ext cx="103632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7D92FD-3DD6-4D11-B6BA-E0A1327FD5C1}"/>
              </a:ext>
            </a:extLst>
          </p:cNvPr>
          <p:cNvSpPr/>
          <p:nvPr/>
        </p:nvSpPr>
        <p:spPr>
          <a:xfrm>
            <a:off x="914400" y="4368800"/>
            <a:ext cx="63500" cy="1498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B8242E6-7A8D-44FD-B2CE-51352EDD0AA9}"/>
              </a:ext>
            </a:extLst>
          </p:cNvPr>
          <p:cNvSpPr txBox="1"/>
          <p:nvPr/>
        </p:nvSpPr>
        <p:spPr>
          <a:xfrm>
            <a:off x="1219199" y="4546600"/>
            <a:ext cx="6886575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Positioning in the value chain</a:t>
            </a:r>
            <a:r>
              <a:rPr lang="en-US" sz="2000" b="1" dirty="0">
                <a:solidFill>
                  <a:srgbClr val="10312B"/>
                </a:solidFill>
                <a:latin typeface="Arial"/>
                <a:cs typeface="Arial"/>
              </a:rPr>
              <a:t> (don’t do all)</a:t>
            </a:r>
            <a:endParaRPr lang="en-NG" sz="2000" b="1" dirty="0">
              <a:solidFill>
                <a:srgbClr val="10312B"/>
              </a:solidFill>
              <a:latin typeface="Arial"/>
              <a:cs typeface="Arial"/>
            </a:endParaRPr>
          </a:p>
          <a:p>
            <a:pPr marL="200025" indent="-200025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Design, ideation and advisory</a:t>
            </a:r>
          </a:p>
          <a:p>
            <a:pPr marL="200025" indent="-200025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Production and manufacturing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F66FBC1-B5EB-412F-BB26-B4CC48677E2D}"/>
              </a:ext>
            </a:extLst>
          </p:cNvPr>
          <p:cNvSpPr txBox="1"/>
          <p:nvPr/>
        </p:nvSpPr>
        <p:spPr>
          <a:xfrm>
            <a:off x="914400" y="6045200"/>
            <a:ext cx="10363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8000"/>
              </a:lnSpc>
              <a:buNone/>
            </a:pPr>
            <a:r>
              <a:rPr lang="en-NG" sz="2000" b="1" dirty="0">
                <a:solidFill>
                  <a:srgbClr val="FF0000"/>
                </a:solidFill>
                <a:latin typeface="Arial"/>
                <a:cs typeface="Arial"/>
              </a:rPr>
              <a:t>Deliver Mercedes and charge Amazon, and you will burn out and go broke.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EF45CF-90FD-49E7-B15F-D0DBBDE6475B}"/>
              </a:ext>
            </a:extLst>
          </p:cNvPr>
          <p:cNvSpPr txBox="1"/>
          <p:nvPr/>
        </p:nvSpPr>
        <p:spPr>
          <a:xfrm>
            <a:off x="6248400" y="4902200"/>
            <a:ext cx="4724400" cy="812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200025" indent="-200025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Sales and distribution</a:t>
            </a:r>
          </a:p>
          <a:p>
            <a:pPr marL="200025" indent="-200025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Customer service and technical support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2C08B06-3232-4C54-AC4C-24F3A821A0BF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4473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48C1E06-138D-4583-870B-12FBAD487660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6AFDA0-7CE5-4166-BB67-CE65848EFCB1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0EE49-C4B2-4FFD-8D9F-EF54B4553D97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04   ·   BUSINESS MODEL   ·   START-UP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DCB0A7-4B2B-415E-8E50-7BD64A938025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400" b="1" dirty="0">
                <a:solidFill>
                  <a:srgbClr val="FFFFFF"/>
                </a:solidFill>
                <a:latin typeface="Arial"/>
                <a:cs typeface="Arial"/>
              </a:rPr>
              <a:t>Design the model for growth</a:t>
            </a:r>
            <a:r>
              <a:rPr lang="en-US" sz="2400" b="1" dirty="0">
                <a:solidFill>
                  <a:srgbClr val="FFFFFF"/>
                </a:solidFill>
                <a:latin typeface="Arial"/>
                <a:cs typeface="Arial"/>
              </a:rPr>
              <a:t> (according to Reid Hoffman)</a:t>
            </a:r>
            <a:endParaRPr lang="en-NG" sz="2400" b="1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D59547E-EDD4-4ABC-9AEB-ADAB1E71D828}"/>
              </a:ext>
            </a:extLst>
          </p:cNvPr>
          <p:cNvSpPr/>
          <p:nvPr/>
        </p:nvSpPr>
        <p:spPr>
          <a:xfrm>
            <a:off x="914400" y="1778000"/>
            <a:ext cx="5029200" cy="167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0FD4912-3668-46C1-9410-87C2157CC1A6}"/>
              </a:ext>
            </a:extLst>
          </p:cNvPr>
          <p:cNvSpPr/>
          <p:nvPr/>
        </p:nvSpPr>
        <p:spPr>
          <a:xfrm>
            <a:off x="914400" y="1778000"/>
            <a:ext cx="63500" cy="1676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941FD1-DDEF-41BF-9B8A-C727E0A21A27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Market size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199210-071F-4DED-B56B-4596E0DDD1C4}"/>
              </a:ext>
            </a:extLst>
          </p:cNvPr>
          <p:cNvSpPr txBox="1"/>
          <p:nvPr/>
        </p:nvSpPr>
        <p:spPr>
          <a:xfrm>
            <a:off x="1219200" y="23368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Big already, or growing fast, and reachable. Sizing ride-hailing on the taxi market is like sizing cars on the horse market.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C7A300C-D0B5-4BEF-A58A-0EB7FFAC1EBE}"/>
              </a:ext>
            </a:extLst>
          </p:cNvPr>
          <p:cNvSpPr/>
          <p:nvPr/>
        </p:nvSpPr>
        <p:spPr>
          <a:xfrm>
            <a:off x="6248400" y="1778000"/>
            <a:ext cx="5029200" cy="167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FDBA7B-7267-439F-B964-B72530A40982}"/>
              </a:ext>
            </a:extLst>
          </p:cNvPr>
          <p:cNvSpPr/>
          <p:nvPr/>
        </p:nvSpPr>
        <p:spPr>
          <a:xfrm>
            <a:off x="6248400" y="1778000"/>
            <a:ext cx="63500" cy="1676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E92329-47CC-4752-A8BD-9B46A2616CD7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Distribution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53BFF1-7A06-4F91-A119-1C1D37B31A3C}"/>
              </a:ext>
            </a:extLst>
          </p:cNvPr>
          <p:cNvSpPr txBox="1"/>
          <p:nvPr/>
        </p:nvSpPr>
        <p:spPr>
          <a:xfrm>
            <a:off x="6553200" y="23368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good product with great distribution beats a great product nobody can reach. Build the channel into the model.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C95EF3-5290-417A-9238-26E1E31F91DE}"/>
              </a:ext>
            </a:extLst>
          </p:cNvPr>
          <p:cNvSpPr/>
          <p:nvPr/>
        </p:nvSpPr>
        <p:spPr>
          <a:xfrm>
            <a:off x="914400" y="3632200"/>
            <a:ext cx="5029200" cy="167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E46B00-C4EC-46D2-B7D7-6CE0E851F129}"/>
              </a:ext>
            </a:extLst>
          </p:cNvPr>
          <p:cNvSpPr/>
          <p:nvPr/>
        </p:nvSpPr>
        <p:spPr>
          <a:xfrm>
            <a:off x="914400" y="3632200"/>
            <a:ext cx="63500" cy="1676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C74813-A500-4EE4-BA02-3B6AB4E1611E}"/>
              </a:ext>
            </a:extLst>
          </p:cNvPr>
          <p:cNvSpPr txBox="1"/>
          <p:nvPr/>
        </p:nvSpPr>
        <p:spPr>
          <a:xfrm>
            <a:off x="1219200" y="3810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High gross margins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55125F4-9CA9-4806-9EC1-D0A404F72865}"/>
              </a:ext>
            </a:extLst>
          </p:cNvPr>
          <p:cNvSpPr txBox="1"/>
          <p:nvPr/>
        </p:nvSpPr>
        <p:spPr>
          <a:xfrm>
            <a:off x="1219200" y="41910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Margin is what pays for your own growth. Thin margin means somebody else must fund every customer you add.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91CBDF9-50BF-428E-A4B3-6C2FECCC7BD9}"/>
              </a:ext>
            </a:extLst>
          </p:cNvPr>
          <p:cNvSpPr/>
          <p:nvPr/>
        </p:nvSpPr>
        <p:spPr>
          <a:xfrm>
            <a:off x="6248400" y="3632200"/>
            <a:ext cx="5029200" cy="16764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73435FF-6703-4E46-86E7-069446580847}"/>
              </a:ext>
            </a:extLst>
          </p:cNvPr>
          <p:cNvSpPr/>
          <p:nvPr/>
        </p:nvSpPr>
        <p:spPr>
          <a:xfrm>
            <a:off x="6248400" y="3632200"/>
            <a:ext cx="63500" cy="16764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3FA277-962F-49A5-807C-C98FBD4C85EC}"/>
              </a:ext>
            </a:extLst>
          </p:cNvPr>
          <p:cNvSpPr txBox="1"/>
          <p:nvPr/>
        </p:nvSpPr>
        <p:spPr>
          <a:xfrm>
            <a:off x="6553200" y="3810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Network effects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E6C80F1-3E80-4B94-9A61-29EB1BF07C39}"/>
              </a:ext>
            </a:extLst>
          </p:cNvPr>
          <p:cNvSpPr txBox="1"/>
          <p:nvPr/>
        </p:nvSpPr>
        <p:spPr>
          <a:xfrm>
            <a:off x="6553200" y="4191000"/>
            <a:ext cx="44196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product gets more useful to everybody each time one more person joins. That is what makes the lead permanent.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21C8D4-9C9E-406C-AECE-F35A2DD99457}"/>
              </a:ext>
            </a:extLst>
          </p:cNvPr>
          <p:cNvSpPr/>
          <p:nvPr/>
        </p:nvSpPr>
        <p:spPr>
          <a:xfrm>
            <a:off x="914400" y="5511800"/>
            <a:ext cx="10363200" cy="9398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C9CF73-5722-4C94-9487-CBB5B551B23C}"/>
              </a:ext>
            </a:extLst>
          </p:cNvPr>
          <p:cNvSpPr/>
          <p:nvPr/>
        </p:nvSpPr>
        <p:spPr>
          <a:xfrm>
            <a:off x="914400" y="5511800"/>
            <a:ext cx="63500" cy="939800"/>
          </a:xfrm>
          <a:prstGeom prst="rect">
            <a:avLst/>
          </a:prstGeom>
          <a:solidFill>
            <a:srgbClr val="A2432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B07001-D3D8-4BD5-873B-EECA827CC8C9}"/>
              </a:ext>
            </a:extLst>
          </p:cNvPr>
          <p:cNvSpPr txBox="1"/>
          <p:nvPr/>
        </p:nvSpPr>
        <p:spPr>
          <a:xfrm>
            <a:off x="1219200" y="5689600"/>
            <a:ext cx="975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A2432F"/>
                </a:solidFill>
                <a:latin typeface="Arial"/>
                <a:cs typeface="Arial"/>
              </a:rPr>
              <a:t>The two limiters that kill the run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6BA878-A277-472A-AAF9-FDE5CA183588}"/>
              </a:ext>
            </a:extLst>
          </p:cNvPr>
          <p:cNvSpPr txBox="1"/>
          <p:nvPr/>
        </p:nvSpPr>
        <p:spPr>
          <a:xfrm>
            <a:off x="1219200" y="6045200"/>
            <a:ext cx="9753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No product-market fit, and an operation that cannot carry the weight when the demand arrives.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1E7AC2-2824-4F8A-AAE9-FC86E51919D5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350309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EE4F6A0-E564-4659-8757-A63437EEB98D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27B4332-29B1-494C-BD2F-CCA73793EF5F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8D426-C4E2-44A2-9386-BE7521CDB8F4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04   ·   BUSINESS MODEL   ·   START-UP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198A77-3E83-4D53-A083-F31F8D77E61A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discipline underneath the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1280B33-C5C8-4CE9-920C-EEB20F7A9664}"/>
              </a:ext>
            </a:extLst>
          </p:cNvPr>
          <p:cNvSpPr/>
          <p:nvPr/>
        </p:nvSpPr>
        <p:spPr>
          <a:xfrm>
            <a:off x="914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73A6CC4-0DD1-4364-A350-BDCA939F4F75}"/>
              </a:ext>
            </a:extLst>
          </p:cNvPr>
          <p:cNvSpPr/>
          <p:nvPr/>
        </p:nvSpPr>
        <p:spPr>
          <a:xfrm>
            <a:off x="914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844097-5469-476F-A40D-AAD4AB516C73}"/>
              </a:ext>
            </a:extLst>
          </p:cNvPr>
          <p:cNvSpPr txBox="1"/>
          <p:nvPr/>
        </p:nvSpPr>
        <p:spPr>
          <a:xfrm>
            <a:off x="1219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Build something people want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AB3743-C2F1-4A31-8737-D71632E41B19}"/>
              </a:ext>
            </a:extLst>
          </p:cNvPr>
          <p:cNvSpPr txBox="1"/>
          <p:nvPr/>
        </p:nvSpPr>
        <p:spPr>
          <a:xfrm>
            <a:off x="1219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only rule that survives every pivot. Talk to a small number of users until you know their problem better than they do.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EA6F87-1DA4-44DD-B062-F6659B993C8E}"/>
              </a:ext>
            </a:extLst>
          </p:cNvPr>
          <p:cNvSpPr/>
          <p:nvPr/>
        </p:nvSpPr>
        <p:spPr>
          <a:xfrm>
            <a:off x="6248400" y="18034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1EC028-A9E2-41C2-827D-4B04FDBF6867}"/>
              </a:ext>
            </a:extLst>
          </p:cNvPr>
          <p:cNvSpPr/>
          <p:nvPr/>
        </p:nvSpPr>
        <p:spPr>
          <a:xfrm>
            <a:off x="6248400" y="18034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9D927A-E9AF-49A3-AF87-CA051CC97E6A}"/>
              </a:ext>
            </a:extLst>
          </p:cNvPr>
          <p:cNvSpPr txBox="1"/>
          <p:nvPr/>
        </p:nvSpPr>
        <p:spPr>
          <a:xfrm>
            <a:off x="6553200" y="20066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Charge money early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E72D17-6F38-41D2-8479-71EE43BAE804}"/>
              </a:ext>
            </a:extLst>
          </p:cNvPr>
          <p:cNvSpPr txBox="1"/>
          <p:nvPr/>
        </p:nvSpPr>
        <p:spPr>
          <a:xfrm>
            <a:off x="6553200" y="23876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Revenue is the fastest proof that the problem is real. Free users will praise you and still not pay you.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832D8FC-30F4-478E-AEAD-FCC489D0827B}"/>
              </a:ext>
            </a:extLst>
          </p:cNvPr>
          <p:cNvSpPr/>
          <p:nvPr/>
        </p:nvSpPr>
        <p:spPr>
          <a:xfrm>
            <a:off x="914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02BB59-35FB-4555-8425-F7453572F6BB}"/>
              </a:ext>
            </a:extLst>
          </p:cNvPr>
          <p:cNvSpPr/>
          <p:nvPr/>
        </p:nvSpPr>
        <p:spPr>
          <a:xfrm>
            <a:off x="914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87E9DC-E31E-40D3-A71D-45FBEC8FF332}"/>
              </a:ext>
            </a:extLst>
          </p:cNvPr>
          <p:cNvSpPr txBox="1"/>
          <p:nvPr/>
        </p:nvSpPr>
        <p:spPr>
          <a:xfrm>
            <a:off x="1219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Know your unit economics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1367DF-DE2E-4155-BE56-C99C6BDA7BFB}"/>
              </a:ext>
            </a:extLst>
          </p:cNvPr>
          <p:cNvSpPr txBox="1"/>
          <p:nvPr/>
        </p:nvSpPr>
        <p:spPr>
          <a:xfrm>
            <a:off x="1219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What one customer costs to win, and what one customer returns. If that sum does not work small, it will not work large.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26E226-A2C1-4CCE-B12C-CE48F30DEF71}"/>
              </a:ext>
            </a:extLst>
          </p:cNvPr>
          <p:cNvSpPr/>
          <p:nvPr/>
        </p:nvSpPr>
        <p:spPr>
          <a:xfrm>
            <a:off x="6248400" y="3733800"/>
            <a:ext cx="5029200" cy="1752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5C8BE2B-2EBF-422D-BA6A-88C24EF9D939}"/>
              </a:ext>
            </a:extLst>
          </p:cNvPr>
          <p:cNvSpPr/>
          <p:nvPr/>
        </p:nvSpPr>
        <p:spPr>
          <a:xfrm>
            <a:off x="6248400" y="3733800"/>
            <a:ext cx="63500" cy="17526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61C81E-5456-4B4C-9721-E0DF1752A0BB}"/>
              </a:ext>
            </a:extLst>
          </p:cNvPr>
          <p:cNvSpPr txBox="1"/>
          <p:nvPr/>
        </p:nvSpPr>
        <p:spPr>
          <a:xfrm>
            <a:off x="6553200" y="39370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Pick one growth number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29221C-4B1F-463E-A70E-D4135ECC5D40}"/>
              </a:ext>
            </a:extLst>
          </p:cNvPr>
          <p:cNvSpPr txBox="1"/>
          <p:nvPr/>
        </p:nvSpPr>
        <p:spPr>
          <a:xfrm>
            <a:off x="6553200" y="4318000"/>
            <a:ext cx="44196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6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Grow one metric weekly and let it govern the week. Be default alive before you try to be default rich.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9897086-016A-4633-9D9A-ED036DB3B3EC}"/>
              </a:ext>
            </a:extLst>
          </p:cNvPr>
          <p:cNvSpPr txBox="1"/>
          <p:nvPr/>
        </p:nvSpPr>
        <p:spPr>
          <a:xfrm>
            <a:off x="914400" y="5867400"/>
            <a:ext cx="10363200" cy="609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>
              <a:lnSpc>
                <a:spcPct val="106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Start with a small market you can dominate. Nobody scales out of a market they never owned.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4EDF92-A1E0-48A5-81E0-5938EB17221D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329706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7236F3-BC8D-4F7F-A5B4-2A87D94C4B8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FCAFA4-EA15-4189-BBAC-1E2EF64A7624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98A068-0299-4E95-BA84-AC5E6564045A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04   ·   BUSINESS MODEL   ·   START-UP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91C18E-7190-4FA5-972D-999E72369F12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Nine business models that keep showing 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B15BEE-0065-473E-A329-1D7AE020483E}"/>
              </a:ext>
            </a:extLst>
          </p:cNvPr>
          <p:cNvSpPr/>
          <p:nvPr/>
        </p:nvSpPr>
        <p:spPr>
          <a:xfrm>
            <a:off x="914400" y="17272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9B35BB-203F-46F8-AA88-CDD3FB1CEFED}"/>
              </a:ext>
            </a:extLst>
          </p:cNvPr>
          <p:cNvSpPr/>
          <p:nvPr/>
        </p:nvSpPr>
        <p:spPr>
          <a:xfrm>
            <a:off x="914400" y="17272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5EC89C-431F-407A-A2FC-266E148B6450}"/>
              </a:ext>
            </a:extLst>
          </p:cNvPr>
          <p:cNvSpPr txBox="1"/>
          <p:nvPr/>
        </p:nvSpPr>
        <p:spPr>
          <a:xfrm>
            <a:off x="1168400" y="19050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SaaS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13DEF-947F-41CF-B8BF-52F8906937EB}"/>
              </a:ext>
            </a:extLst>
          </p:cNvPr>
          <p:cNvSpPr txBox="1"/>
          <p:nvPr/>
        </p:nvSpPr>
        <p:spPr>
          <a:xfrm>
            <a:off x="1168400" y="22606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Software as a service. Cloud subscriptions.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Salesforce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BAE40-9D4D-453E-80A7-38E80BF5FD55}"/>
              </a:ext>
            </a:extLst>
          </p:cNvPr>
          <p:cNvSpPr/>
          <p:nvPr/>
        </p:nvSpPr>
        <p:spPr>
          <a:xfrm>
            <a:off x="4457700" y="17272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3AEAA79-D4DF-4FD2-905E-EE1C6FAA7001}"/>
              </a:ext>
            </a:extLst>
          </p:cNvPr>
          <p:cNvSpPr/>
          <p:nvPr/>
        </p:nvSpPr>
        <p:spPr>
          <a:xfrm>
            <a:off x="4457700" y="17272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515394-C684-4FBC-A32B-23862DF922D6}"/>
              </a:ext>
            </a:extLst>
          </p:cNvPr>
          <p:cNvSpPr txBox="1"/>
          <p:nvPr/>
        </p:nvSpPr>
        <p:spPr>
          <a:xfrm>
            <a:off x="4711700" y="19050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Transactional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26C014-B51C-4FE7-B4F0-248DE0A38203}"/>
              </a:ext>
            </a:extLst>
          </p:cNvPr>
          <p:cNvSpPr txBox="1"/>
          <p:nvPr/>
        </p:nvSpPr>
        <p:spPr>
          <a:xfrm>
            <a:off x="4711700" y="22606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You take a commission on payments.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Paystack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5FA5755-12D6-455D-872B-B38EB7CC79FC}"/>
              </a:ext>
            </a:extLst>
          </p:cNvPr>
          <p:cNvSpPr/>
          <p:nvPr/>
        </p:nvSpPr>
        <p:spPr>
          <a:xfrm>
            <a:off x="8001000" y="17272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7366B8-A02A-47C0-8316-DF9444362C13}"/>
              </a:ext>
            </a:extLst>
          </p:cNvPr>
          <p:cNvSpPr/>
          <p:nvPr/>
        </p:nvSpPr>
        <p:spPr>
          <a:xfrm>
            <a:off x="8001000" y="17272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6D06B-1A4F-48F9-966E-EFFE57577D19}"/>
              </a:ext>
            </a:extLst>
          </p:cNvPr>
          <p:cNvSpPr txBox="1"/>
          <p:nvPr/>
        </p:nvSpPr>
        <p:spPr>
          <a:xfrm>
            <a:off x="8255000" y="19050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Marketplaces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901481-0E3E-4459-863F-9EB1DD8EBD0F}"/>
              </a:ext>
            </a:extLst>
          </p:cNvPr>
          <p:cNvSpPr txBox="1"/>
          <p:nvPr/>
        </p:nvSpPr>
        <p:spPr>
          <a:xfrm>
            <a:off x="8255000" y="22606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You connect buyers and sellers.</a:t>
            </a:r>
          </a:p>
          <a:p>
            <a:pPr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A96B10"/>
                </a:solidFill>
                <a:latin typeface="Arial"/>
                <a:cs typeface="Arial"/>
              </a:rPr>
              <a:t>Airbnb</a:t>
            </a:r>
            <a:endParaRPr lang="en-NG" sz="1800" b="1" dirty="0">
              <a:solidFill>
                <a:srgbClr val="A96B10"/>
              </a:solidFill>
              <a:latin typeface="Arial"/>
              <a:cs typeface="Arial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F8E865-C48F-4167-A696-10C728CBA5D1}"/>
              </a:ext>
            </a:extLst>
          </p:cNvPr>
          <p:cNvSpPr/>
          <p:nvPr/>
        </p:nvSpPr>
        <p:spPr>
          <a:xfrm>
            <a:off x="914400" y="33020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3275EB-9217-4EC6-8219-6B357B0BA272}"/>
              </a:ext>
            </a:extLst>
          </p:cNvPr>
          <p:cNvSpPr/>
          <p:nvPr/>
        </p:nvSpPr>
        <p:spPr>
          <a:xfrm>
            <a:off x="914400" y="33020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7BC87FD-5319-4203-916D-B2DFE7258E8A}"/>
              </a:ext>
            </a:extLst>
          </p:cNvPr>
          <p:cNvSpPr txBox="1"/>
          <p:nvPr/>
        </p:nvSpPr>
        <p:spPr>
          <a:xfrm>
            <a:off x="1168400" y="34798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Hard tech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F5B1AF-1E6B-4935-B4E1-098324A47087}"/>
              </a:ext>
            </a:extLst>
          </p:cNvPr>
          <p:cNvSpPr txBox="1"/>
          <p:nvPr/>
        </p:nvSpPr>
        <p:spPr>
          <a:xfrm>
            <a:off x="1168400" y="38354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Advanced engineering businesses.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SpaceX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484400-53EB-4FEB-AB9A-9B1699206EE3}"/>
              </a:ext>
            </a:extLst>
          </p:cNvPr>
          <p:cNvSpPr/>
          <p:nvPr/>
        </p:nvSpPr>
        <p:spPr>
          <a:xfrm>
            <a:off x="4457700" y="33020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6093B51-CD9B-47D8-B2CA-A74804E13D79}"/>
              </a:ext>
            </a:extLst>
          </p:cNvPr>
          <p:cNvSpPr/>
          <p:nvPr/>
        </p:nvSpPr>
        <p:spPr>
          <a:xfrm>
            <a:off x="4457700" y="33020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C789B9-FDC8-469C-97E9-9EF96FB3DDCF}"/>
              </a:ext>
            </a:extLst>
          </p:cNvPr>
          <p:cNvSpPr txBox="1"/>
          <p:nvPr/>
        </p:nvSpPr>
        <p:spPr>
          <a:xfrm>
            <a:off x="4711700" y="34798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Usage-based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FF56EB5-709C-4641-BBCD-C5EC1CCBE39E}"/>
              </a:ext>
            </a:extLst>
          </p:cNvPr>
          <p:cNvSpPr txBox="1"/>
          <p:nvPr/>
        </p:nvSpPr>
        <p:spPr>
          <a:xfrm>
            <a:off x="4711700" y="38354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You charge by the volume consumed.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Twilio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FB8A571-095E-42E9-BFF3-DE7B4DD8EAEF}"/>
              </a:ext>
            </a:extLst>
          </p:cNvPr>
          <p:cNvSpPr/>
          <p:nvPr/>
        </p:nvSpPr>
        <p:spPr>
          <a:xfrm>
            <a:off x="8001000" y="33020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BB4745-D930-407A-9614-866E5DB5E7E3}"/>
              </a:ext>
            </a:extLst>
          </p:cNvPr>
          <p:cNvSpPr/>
          <p:nvPr/>
        </p:nvSpPr>
        <p:spPr>
          <a:xfrm>
            <a:off x="8001000" y="33020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13B4964-331F-4F0C-B27A-D9EEF2595F8F}"/>
              </a:ext>
            </a:extLst>
          </p:cNvPr>
          <p:cNvSpPr txBox="1"/>
          <p:nvPr/>
        </p:nvSpPr>
        <p:spPr>
          <a:xfrm>
            <a:off x="8255000" y="34798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Enterprise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02B9EEC-EFE8-45F5-AF2C-2E4538E637AE}"/>
              </a:ext>
            </a:extLst>
          </p:cNvPr>
          <p:cNvSpPr txBox="1"/>
          <p:nvPr/>
        </p:nvSpPr>
        <p:spPr>
          <a:xfrm>
            <a:off x="8255000" y="38354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Software sold to large organisations.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Oracle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7533A32-9D20-4BD9-8F62-D05A2D30E195}"/>
              </a:ext>
            </a:extLst>
          </p:cNvPr>
          <p:cNvSpPr/>
          <p:nvPr/>
        </p:nvSpPr>
        <p:spPr>
          <a:xfrm>
            <a:off x="914400" y="48768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224578-E048-42C1-83B6-D4A0507D5FA2}"/>
              </a:ext>
            </a:extLst>
          </p:cNvPr>
          <p:cNvSpPr/>
          <p:nvPr/>
        </p:nvSpPr>
        <p:spPr>
          <a:xfrm>
            <a:off x="914400" y="48768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BD582CC-8451-4E15-8D57-149946591188}"/>
              </a:ext>
            </a:extLst>
          </p:cNvPr>
          <p:cNvSpPr txBox="1"/>
          <p:nvPr/>
        </p:nvSpPr>
        <p:spPr>
          <a:xfrm>
            <a:off x="1168400" y="50546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Advertising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4778CDC-C7DF-4412-99C7-B6796489E2AF}"/>
              </a:ext>
            </a:extLst>
          </p:cNvPr>
          <p:cNvSpPr txBox="1"/>
          <p:nvPr/>
        </p:nvSpPr>
        <p:spPr>
          <a:xfrm>
            <a:off x="1168400" y="54102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Revenue from displaying adverts.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Google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CD4B4D-3454-4223-BC31-7DBF672E2705}"/>
              </a:ext>
            </a:extLst>
          </p:cNvPr>
          <p:cNvSpPr/>
          <p:nvPr/>
        </p:nvSpPr>
        <p:spPr>
          <a:xfrm>
            <a:off x="4457700" y="48768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F4A958-63B5-429A-92B2-93828A2D1A40}"/>
              </a:ext>
            </a:extLst>
          </p:cNvPr>
          <p:cNvSpPr/>
          <p:nvPr/>
        </p:nvSpPr>
        <p:spPr>
          <a:xfrm>
            <a:off x="4457700" y="48768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5BA6A0-C28A-45DD-9C7A-F1BB8CF94E8A}"/>
              </a:ext>
            </a:extLst>
          </p:cNvPr>
          <p:cNvSpPr txBox="1"/>
          <p:nvPr/>
        </p:nvSpPr>
        <p:spPr>
          <a:xfrm>
            <a:off x="4711700" y="50546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E-commerce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EFF9CCA-4A2C-41ED-9DAA-C42D788C3D41}"/>
              </a:ext>
            </a:extLst>
          </p:cNvPr>
          <p:cNvSpPr txBox="1"/>
          <p:nvPr/>
        </p:nvSpPr>
        <p:spPr>
          <a:xfrm>
            <a:off x="4711700" y="54102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Goods sold online.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Jumia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3F18E79-9CBB-448B-8A76-E255C2D03B56}"/>
              </a:ext>
            </a:extLst>
          </p:cNvPr>
          <p:cNvSpPr/>
          <p:nvPr/>
        </p:nvSpPr>
        <p:spPr>
          <a:xfrm>
            <a:off x="8001000" y="4876800"/>
            <a:ext cx="3276600" cy="14986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AA87985-493B-4F1D-8F95-892786102367}"/>
              </a:ext>
            </a:extLst>
          </p:cNvPr>
          <p:cNvSpPr/>
          <p:nvPr/>
        </p:nvSpPr>
        <p:spPr>
          <a:xfrm>
            <a:off x="8001000" y="4876800"/>
            <a:ext cx="32766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DB712C2-5D3C-4CF5-BFCD-F9BA39AD1BC9}"/>
              </a:ext>
            </a:extLst>
          </p:cNvPr>
          <p:cNvSpPr txBox="1"/>
          <p:nvPr/>
        </p:nvSpPr>
        <p:spPr>
          <a:xfrm>
            <a:off x="8255000" y="5054600"/>
            <a:ext cx="2768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Bio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2044F3-94BC-4ADE-92B7-86364FBAC03F}"/>
              </a:ext>
            </a:extLst>
          </p:cNvPr>
          <p:cNvSpPr txBox="1"/>
          <p:nvPr/>
        </p:nvSpPr>
        <p:spPr>
          <a:xfrm>
            <a:off x="8255000" y="5410200"/>
            <a:ext cx="27686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4C5A56"/>
                </a:solidFill>
                <a:latin typeface="Arial"/>
                <a:cs typeface="Arial"/>
              </a:rPr>
              <a:t>Biotechnology and life sciences.</a:t>
            </a:r>
          </a:p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A96B10"/>
                </a:solidFill>
                <a:latin typeface="Arial"/>
                <a:cs typeface="Arial"/>
              </a:rPr>
              <a:t>Moderna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8BB6EB4-FB55-4314-BD13-DACA38134028}"/>
              </a:ext>
            </a:extLst>
          </p:cNvPr>
          <p:cNvSpPr txBox="1"/>
          <p:nvPr/>
        </p:nvSpPr>
        <p:spPr>
          <a:xfrm>
            <a:off x="914400" y="6451600"/>
            <a:ext cx="103632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>
              <a:buNone/>
            </a:pPr>
            <a:r>
              <a:rPr lang="en-NG" sz="1400" i="1" dirty="0">
                <a:solidFill>
                  <a:srgbClr val="7A8683"/>
                </a:solidFill>
                <a:latin typeface="Arial"/>
                <a:cs typeface="Arial"/>
              </a:rPr>
              <a:t>Source: Y Combinator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E485D9-3FF2-411D-B07D-8C2FDF4BB4CC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2859741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3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3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3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3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3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3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3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9" dur="3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3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3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05   ·   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Who you build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Hire people smarter than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insecure founder hires people he can control, then wonders why nothing in the business runs without him.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Know when you need a partner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co-founder is not a favour to a friend. It is a gap you cannot fill yourself and cannot afford to leave open.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10312B"/>
                </a:solidFill>
                <a:latin typeface="Arial"/>
                <a:cs typeface="Arial"/>
              </a:rPr>
              <a:t>Ours</a:t>
            </a: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 generation shares better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Our parents built alone and kept everything. </a:t>
            </a:r>
            <a:r>
              <a:rPr lang="en-US" dirty="0">
                <a:solidFill>
                  <a:srgbClr val="3F4A47"/>
                </a:solidFill>
                <a:latin typeface="Arial"/>
                <a:cs typeface="Arial"/>
              </a:rPr>
              <a:t>Ours</a:t>
            </a: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 is far more willing to split ownership. That is an advantage, so use it.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Be secure enough to be outshone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If you are always the sharpest person in the room, you hired badly. Pay for judgement, not for loyalty.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You cannot build an enterprise with people who only agree with you.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E294A1-B21E-464E-95A6-E463741C51D4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9979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05   ·   TEAM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How serious builders hire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Mark Zuckerberg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His rule, said plainly in 2015: he will only hire someone to work directly for him if he would be happy to work for that person. He named Sheryl Sandberg as the example.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Brian Chesky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Airbnb's founder sat in the interviews himself in the early years, and probed whether people believed in the mission. Hiring was his job, not something he delegated.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Netflix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team, not a family. Adequate performance earns a generous severance, and managers apply the keeper test: would you fight to keep this person if they resigned?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Steve Jobs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players hire A players, B players hire C players. You do not hire smart people to tell them what to do. You hire them so they can tell you.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None of them treated hiring as paperwork. It was the work.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52EFE9-474C-49D3-AAC9-75516A9340E8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028624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06   ·   ARTIFICIAL INTELLIGENCE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Enabled or native. Decide which.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AI-enabled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318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keep your business and put artificial intelligence inside it. Proposals, adverts, customer replies, records. Same model, lower cost, faster hands.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AI-native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4318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product itself cannot exist without it. A different animal that needs data, technical talent and patient money from day one.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Start where the pain is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318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Automate the task you repeat every week and quietly hate. Not the clever thing that impresses people on the internet.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real threat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4318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Not that the machine replaces you. That a competitor half your size serves twice your customers with the same staff.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Artificial intelligence does not fix a weak business. It scales whatever you already are.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0A23BB-EA2F-4DE9-9627-46176BEFF725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1836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07   ·   OPERATIONS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Systems, not heroics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Write down what only you know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If the process lives in your head, you cannot delegate it, you cannot audit it, and nobody can buy it from you.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One page for each process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Trigger, steps, who checks it, and what good looks like. If it will not fit on a page, it is not yet understood.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Let the machine draft it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Artificial intelligence can write the first version of every manual in a weekend. A named human still owns the outcome.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Replicate yourself on purpose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Train a second person to do the thing you do best. Until somebody else can do it, you do not have a business.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Great people build great systems. Great systems then outlast the people who built them.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339722-C523-4B93-8F6A-DECACC870A53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56005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08   ·   FUNDING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Money has a spectrum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Customer money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cheapest money there is. It costs no ownership, asks no permission, and proves the business at the same time.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Family, friends and grants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Patient and cheap, but slow, and easily poisoned when the terms are never written down. Put it in writing anyway.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Debt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Banks lend against cash flow and collateral, not against an idea. The cost is predictable and the schedule does not care about your excuses.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Equity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Investors buy tomorrow. They bring speed, networks and pressure, and they leave with a piece of the house.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The funding craze has cooled. Build value first, then raise when money buys speed you can already use.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0254A82-AEAB-49C4-B7A0-A6F126A587ED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798003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09   ·   RISK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Balancing your excesses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Know your own appetite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Some people sleep well owing money. Some cannot. Neither is wrong. Pretending to be the other one is what ruins people.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Survivable or fatal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bad month is survivable. One customer who is most of your revenue, or one supplier with no alternative, is fatal.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Know what you have pledged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Personal guarantees, family money, the house. Write down exactly what is on the line and who else is standing on it.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Name the three killers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List the three things that would end this business, and write what you would do in the first week each one arrives.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The market punishes the reckless and the frozen equally. Consciousness beats courage.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A0C0D3D-06B2-4CA6-94CD-C803B967F4EA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3551033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FUNDAMENTAL 10   ·   EXIT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Scale, sell or go public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Scale and hold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You keep it and grow it. Your reward arrives as cash flow every year instead of one cheque.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Sell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199" y="23368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Somebody buys what you built. Only possible when the business is a system, not a person. Records make the price.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Go public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8768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market buys a piece of it. That money comes with governance, disclosure and a great deal of patience.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Hand it over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199" y="4521200"/>
            <a:ext cx="5286375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Succession to family or to management. The most common exit in this room, and the one nobody plans for.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914400" y="61722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You do not have to want an exit. You do have to be able to have one.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F94EED-6DCF-477B-9753-C9D392EC37C0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A9C4BB"/>
                </a:solidFill>
                <a:latin typeface="Arial"/>
                <a:cs typeface="Arial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238848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1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184616A2-A37B-40B8-9F8E-D64F9AAD36E5}"/>
              </a:ext>
            </a:extLst>
          </p:cNvPr>
          <p:cNvSpPr/>
          <p:nvPr/>
        </p:nvSpPr>
        <p:spPr>
          <a:xfrm rot="-2700000">
            <a:off x="8382000" y="-2540000"/>
            <a:ext cx="203200" cy="1066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5152CC-E0E9-4EDB-88D9-D5737AF1DA0A}"/>
              </a:ext>
            </a:extLst>
          </p:cNvPr>
          <p:cNvSpPr/>
          <p:nvPr/>
        </p:nvSpPr>
        <p:spPr>
          <a:xfrm rot="-2700000">
            <a:off x="8890000" y="-3175000"/>
            <a:ext cx="2159000" cy="11430000"/>
          </a:xfrm>
          <a:prstGeom prst="rect">
            <a:avLst/>
          </a:prstGeom>
          <a:solidFill>
            <a:srgbClr val="1A4A4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BE893CA-D088-4F66-8251-EF87FCB73511}"/>
              </a:ext>
            </a:extLst>
          </p:cNvPr>
          <p:cNvSpPr/>
          <p:nvPr/>
        </p:nvSpPr>
        <p:spPr>
          <a:xfrm>
            <a:off x="914400" y="2717800"/>
            <a:ext cx="711200" cy="635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8CD93-1196-4EBE-B740-CB53E661F0F3}"/>
              </a:ext>
            </a:extLst>
          </p:cNvPr>
          <p:cNvSpPr txBox="1"/>
          <p:nvPr/>
        </p:nvSpPr>
        <p:spPr>
          <a:xfrm>
            <a:off x="914400" y="2946400"/>
            <a:ext cx="660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SECTION THREE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4419AC-F2F1-4B7A-A7C3-3451E05BC024}"/>
              </a:ext>
            </a:extLst>
          </p:cNvPr>
          <p:cNvSpPr txBox="1"/>
          <p:nvPr/>
        </p:nvSpPr>
        <p:spPr>
          <a:xfrm>
            <a:off x="914400" y="3327400"/>
            <a:ext cx="7620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5000"/>
              </a:lnSpc>
              <a:buNone/>
            </a:pPr>
            <a:r>
              <a:rPr lang="en-NG" sz="5400" b="1" dirty="0">
                <a:solidFill>
                  <a:srgbClr val="FFFFFF"/>
                </a:solidFill>
                <a:latin typeface="Arial"/>
                <a:cs typeface="Arial"/>
              </a:rPr>
              <a:t>My Personal Counsel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995F66-775D-4612-A3D6-70BFD3E80055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52564321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5DF014-526A-4A0B-BFFD-A60E1BFC8494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1FDDB6B-1FD2-409F-8751-8B58F97F127B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C9D8EF-6E4A-46D2-BC08-D362F92F113A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SECTION THREE   ·   MY PERSONAL COUNSEL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F899B0-73B0-45CF-BE14-111CF68CB49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The big three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9B84EE-CB16-4E63-8F8A-14F0A41FBFB7}"/>
              </a:ext>
            </a:extLst>
          </p:cNvPr>
          <p:cNvSpPr/>
          <p:nvPr/>
        </p:nvSpPr>
        <p:spPr>
          <a:xfrm>
            <a:off x="9144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C42CF-B307-48B1-A72F-2FFFA6B62F21}"/>
              </a:ext>
            </a:extLst>
          </p:cNvPr>
          <p:cNvSpPr/>
          <p:nvPr/>
        </p:nvSpPr>
        <p:spPr>
          <a:xfrm>
            <a:off x="914400" y="2032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765EE82-7418-49B8-9A2A-373204F5A272}"/>
              </a:ext>
            </a:extLst>
          </p:cNvPr>
          <p:cNvSpPr/>
          <p:nvPr/>
        </p:nvSpPr>
        <p:spPr>
          <a:xfrm>
            <a:off x="1219200" y="2463800"/>
            <a:ext cx="558800" cy="5588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210AE54-8F2B-44CA-84F3-B796A4BE08E1}"/>
              </a:ext>
            </a:extLst>
          </p:cNvPr>
          <p:cNvSpPr txBox="1"/>
          <p:nvPr/>
        </p:nvSpPr>
        <p:spPr>
          <a:xfrm>
            <a:off x="1219200" y="3251200"/>
            <a:ext cx="2692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Mentorship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6242D7-E8F9-4977-9653-69A58E7FD5C7}"/>
              </a:ext>
            </a:extLst>
          </p:cNvPr>
          <p:cNvSpPr txBox="1"/>
          <p:nvPr/>
        </p:nvSpPr>
        <p:spPr>
          <a:xfrm>
            <a:off x="1219200" y="4114800"/>
            <a:ext cx="2692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people who shorten your road.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14E72FC-440C-4A5A-A3B1-2A71BBC2B653}"/>
              </a:ext>
            </a:extLst>
          </p:cNvPr>
          <p:cNvSpPr/>
          <p:nvPr/>
        </p:nvSpPr>
        <p:spPr>
          <a:xfrm>
            <a:off x="44450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DD484AD-188E-4B5D-9C61-6852865BD19D}"/>
              </a:ext>
            </a:extLst>
          </p:cNvPr>
          <p:cNvSpPr/>
          <p:nvPr/>
        </p:nvSpPr>
        <p:spPr>
          <a:xfrm>
            <a:off x="4445000" y="2032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E131087-2D8F-4CBE-B86F-680050210E2C}"/>
              </a:ext>
            </a:extLst>
          </p:cNvPr>
          <p:cNvSpPr/>
          <p:nvPr/>
        </p:nvSpPr>
        <p:spPr>
          <a:xfrm>
            <a:off x="4749800" y="2463800"/>
            <a:ext cx="558800" cy="5588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1808A4-04DB-42C6-A1FF-C6B1BE0934F8}"/>
              </a:ext>
            </a:extLst>
          </p:cNvPr>
          <p:cNvSpPr txBox="1"/>
          <p:nvPr/>
        </p:nvSpPr>
        <p:spPr>
          <a:xfrm>
            <a:off x="4749800" y="3251200"/>
            <a:ext cx="2692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Personal Development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6A3F40-CF26-4808-B798-F8FD966A6A51}"/>
              </a:ext>
            </a:extLst>
          </p:cNvPr>
          <p:cNvSpPr txBox="1"/>
          <p:nvPr/>
        </p:nvSpPr>
        <p:spPr>
          <a:xfrm>
            <a:off x="4749800" y="4114800"/>
            <a:ext cx="2692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What you become while you build.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9E6ADFF-1222-44D7-BA3B-4890A7BD30DF}"/>
              </a:ext>
            </a:extLst>
          </p:cNvPr>
          <p:cNvSpPr/>
          <p:nvPr/>
        </p:nvSpPr>
        <p:spPr>
          <a:xfrm>
            <a:off x="7975600" y="2032000"/>
            <a:ext cx="3302000" cy="3556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1E6E0A9-71F3-4B63-9D51-87C3E0966835}"/>
              </a:ext>
            </a:extLst>
          </p:cNvPr>
          <p:cNvSpPr/>
          <p:nvPr/>
        </p:nvSpPr>
        <p:spPr>
          <a:xfrm>
            <a:off x="7975600" y="2032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BEBE318-3AEE-4D09-BEDB-022D597D266B}"/>
              </a:ext>
            </a:extLst>
          </p:cNvPr>
          <p:cNvSpPr/>
          <p:nvPr/>
        </p:nvSpPr>
        <p:spPr>
          <a:xfrm>
            <a:off x="8280400" y="2463800"/>
            <a:ext cx="558800" cy="5588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915A0-C33F-4466-9C2C-5C3CCAE5BDE9}"/>
              </a:ext>
            </a:extLst>
          </p:cNvPr>
          <p:cNvSpPr txBox="1"/>
          <p:nvPr/>
        </p:nvSpPr>
        <p:spPr>
          <a:xfrm>
            <a:off x="8280400" y="3251200"/>
            <a:ext cx="26924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400" b="1" dirty="0">
                <a:solidFill>
                  <a:srgbClr val="10312B"/>
                </a:solidFill>
                <a:latin typeface="Arial"/>
                <a:cs typeface="Arial"/>
              </a:rPr>
              <a:t>Personal Effectiveness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8A2BFB-50CF-4327-815B-AE3DAD32C359}"/>
              </a:ext>
            </a:extLst>
          </p:cNvPr>
          <p:cNvSpPr txBox="1"/>
          <p:nvPr/>
        </p:nvSpPr>
        <p:spPr>
          <a:xfrm>
            <a:off x="8280400" y="4114800"/>
            <a:ext cx="26924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habits that protect your hours.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E6F428E-EFBA-46B7-8AE6-60F6484C4CCB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961581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32DBA79-16ED-4627-B971-48598167DD88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E20950-DBEF-457B-B657-5825D688CEB7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4C78ED-677A-4BD7-B87E-69EED98EF75C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THE BIG THREE   ·   ONE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C2739C-B026-4DD0-B397-F49F9A43DB61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Mentorship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BE4471C-073D-4488-8F29-6A5932EA7EEC}"/>
              </a:ext>
            </a:extLst>
          </p:cNvPr>
          <p:cNvSpPr/>
          <p:nvPr/>
        </p:nvSpPr>
        <p:spPr>
          <a:xfrm>
            <a:off x="914400" y="17272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DF7483-69CE-4E97-B2E9-31DCDD2BDF30}"/>
              </a:ext>
            </a:extLst>
          </p:cNvPr>
          <p:cNvSpPr/>
          <p:nvPr/>
        </p:nvSpPr>
        <p:spPr>
          <a:xfrm>
            <a:off x="914400" y="17272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6928F2-1677-416E-85F6-FB56838AF873}"/>
              </a:ext>
            </a:extLst>
          </p:cNvPr>
          <p:cNvSpPr txBox="1"/>
          <p:nvPr/>
        </p:nvSpPr>
        <p:spPr>
          <a:xfrm>
            <a:off x="1193800" y="18796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Do not chase celebrity mentors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D4C06E-D38D-4A28-92E9-95B462BB32C7}"/>
              </a:ext>
            </a:extLst>
          </p:cNvPr>
          <p:cNvSpPr txBox="1"/>
          <p:nvPr/>
        </p:nvSpPr>
        <p:spPr>
          <a:xfrm>
            <a:off x="1193800" y="22352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Unless you carry something a senior person actually needs, the famous name will not answer you.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38D448-3AA4-4061-9ECD-C6C871D22611}"/>
              </a:ext>
            </a:extLst>
          </p:cNvPr>
          <p:cNvSpPr/>
          <p:nvPr/>
        </p:nvSpPr>
        <p:spPr>
          <a:xfrm>
            <a:off x="6248400" y="17272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5D1936A-A6C5-42BA-BB1E-D995CF1DDB05}"/>
              </a:ext>
            </a:extLst>
          </p:cNvPr>
          <p:cNvSpPr/>
          <p:nvPr/>
        </p:nvSpPr>
        <p:spPr>
          <a:xfrm>
            <a:off x="6248400" y="17272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B93027-7B50-40CD-930D-147F17B43BD4}"/>
              </a:ext>
            </a:extLst>
          </p:cNvPr>
          <p:cNvSpPr txBox="1"/>
          <p:nvPr/>
        </p:nvSpPr>
        <p:spPr>
          <a:xfrm>
            <a:off x="6527800" y="18796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Never fewer than three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88E399-E64C-4F43-8D5C-552E3617AE15}"/>
              </a:ext>
            </a:extLst>
          </p:cNvPr>
          <p:cNvSpPr txBox="1"/>
          <p:nvPr/>
        </p:nvSpPr>
        <p:spPr>
          <a:xfrm>
            <a:off x="6527800" y="2235200"/>
            <a:ext cx="5054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Different mentors for different parts of your life. No single person can cover all of you.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90EE68-8D39-440E-BC29-385C15218FD9}"/>
              </a:ext>
            </a:extLst>
          </p:cNvPr>
          <p:cNvSpPr/>
          <p:nvPr/>
        </p:nvSpPr>
        <p:spPr>
          <a:xfrm>
            <a:off x="914400" y="32258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0199EFA-1B83-478E-A90C-EA2D24A55CC7}"/>
              </a:ext>
            </a:extLst>
          </p:cNvPr>
          <p:cNvSpPr/>
          <p:nvPr/>
        </p:nvSpPr>
        <p:spPr>
          <a:xfrm>
            <a:off x="914400" y="32258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D098D7-98D5-482F-9223-9BDE1723136D}"/>
              </a:ext>
            </a:extLst>
          </p:cNvPr>
          <p:cNvSpPr txBox="1"/>
          <p:nvPr/>
        </p:nvSpPr>
        <p:spPr>
          <a:xfrm>
            <a:off x="1193800" y="33782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Mentors change with seasons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C88BDC-45AA-4B6D-9D2D-A7E9CD83288C}"/>
              </a:ext>
            </a:extLst>
          </p:cNvPr>
          <p:cNvSpPr txBox="1"/>
          <p:nvPr/>
        </p:nvSpPr>
        <p:spPr>
          <a:xfrm>
            <a:off x="1193800" y="37338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 people you need at twenty-five are not the ones you need at forty. Refine the roster.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0D70054-28F8-456C-91D0-56E18D8E6F37}"/>
              </a:ext>
            </a:extLst>
          </p:cNvPr>
          <p:cNvSpPr/>
          <p:nvPr/>
        </p:nvSpPr>
        <p:spPr>
          <a:xfrm>
            <a:off x="6248400" y="32258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F3F2AF9-0CBE-4B5D-B0EF-2F063755214C}"/>
              </a:ext>
            </a:extLst>
          </p:cNvPr>
          <p:cNvSpPr/>
          <p:nvPr/>
        </p:nvSpPr>
        <p:spPr>
          <a:xfrm>
            <a:off x="6248400" y="32258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A853B3F-E025-4310-8D96-DFD520077B31}"/>
              </a:ext>
            </a:extLst>
          </p:cNvPr>
          <p:cNvSpPr txBox="1"/>
          <p:nvPr/>
        </p:nvSpPr>
        <p:spPr>
          <a:xfrm>
            <a:off x="6527800" y="33782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Honour them properly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7813B1-3211-4E0C-8DCB-66AF40534C6E}"/>
              </a:ext>
            </a:extLst>
          </p:cNvPr>
          <p:cNvSpPr txBox="1"/>
          <p:nvPr/>
        </p:nvSpPr>
        <p:spPr>
          <a:xfrm>
            <a:off x="6527800" y="3733800"/>
            <a:ext cx="5054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Go beyond taking their time. Gifts, support for their interests, showing up where it matters.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854EC93-EA55-40FE-8B42-EE2581C6EE1E}"/>
              </a:ext>
            </a:extLst>
          </p:cNvPr>
          <p:cNvSpPr/>
          <p:nvPr/>
        </p:nvSpPr>
        <p:spPr>
          <a:xfrm>
            <a:off x="914400" y="47244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80E61D3-404F-4301-AF48-AC842B2F9622}"/>
              </a:ext>
            </a:extLst>
          </p:cNvPr>
          <p:cNvSpPr/>
          <p:nvPr/>
        </p:nvSpPr>
        <p:spPr>
          <a:xfrm>
            <a:off x="914400" y="47244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0D0EB17-720A-45C1-988B-FBF361DBD3AF}"/>
              </a:ext>
            </a:extLst>
          </p:cNvPr>
          <p:cNvSpPr txBox="1"/>
          <p:nvPr/>
        </p:nvSpPr>
        <p:spPr>
          <a:xfrm>
            <a:off x="1193800" y="48768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Be genuine, or be a leech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865DE3-8B50-43F9-93C1-984667620680}"/>
              </a:ext>
            </a:extLst>
          </p:cNvPr>
          <p:cNvSpPr txBox="1"/>
          <p:nvPr/>
        </p:nvSpPr>
        <p:spPr>
          <a:xfrm>
            <a:off x="1193800" y="5232400"/>
            <a:ext cx="43180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People can smell extraction. Give before you ask, and keep giving after you have received.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6A2DC1-2803-4E62-9921-3A300082F082}"/>
              </a:ext>
            </a:extLst>
          </p:cNvPr>
          <p:cNvSpPr/>
          <p:nvPr/>
        </p:nvSpPr>
        <p:spPr>
          <a:xfrm>
            <a:off x="6248400" y="4724400"/>
            <a:ext cx="5029200" cy="1346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C1CE027-F76E-41D1-899E-A2E02113DFBD}"/>
              </a:ext>
            </a:extLst>
          </p:cNvPr>
          <p:cNvSpPr/>
          <p:nvPr/>
        </p:nvSpPr>
        <p:spPr>
          <a:xfrm>
            <a:off x="6248400" y="4724400"/>
            <a:ext cx="63500" cy="134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F13D6C-0B1F-481D-B139-C3C88E669D15}"/>
              </a:ext>
            </a:extLst>
          </p:cNvPr>
          <p:cNvSpPr txBox="1"/>
          <p:nvPr/>
        </p:nvSpPr>
        <p:spPr>
          <a:xfrm>
            <a:off x="6527800" y="4876800"/>
            <a:ext cx="431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What they are actually worth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874D552-C5FB-4A0E-BA6C-F1F68C7363E2}"/>
              </a:ext>
            </a:extLst>
          </p:cNvPr>
          <p:cNvSpPr txBox="1"/>
          <p:nvPr/>
        </p:nvSpPr>
        <p:spPr>
          <a:xfrm>
            <a:off x="6527800" y="5232400"/>
            <a:ext cx="50546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They save you years and money you would have burned, and they open doors you cannot knock 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12468A-D093-46B4-816D-9D9EBC7ADB74}"/>
              </a:ext>
            </a:extLst>
          </p:cNvPr>
          <p:cNvSpPr txBox="1"/>
          <p:nvPr/>
        </p:nvSpPr>
        <p:spPr>
          <a:xfrm>
            <a:off x="914400" y="62738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A good mentor shortens the road. A great one tells you the road is wrong.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DC276CB-54F4-461C-9436-22144BFA4F7E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419267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3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3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3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3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3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6" dur="3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3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551A1EC-2246-4016-8245-6E6A5558616A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2C140B-3380-4708-825F-DF693C577F39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1895B3-D776-4C4A-A3FC-E51ACF8379FE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THE BIG THREE   ·   TWO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C64B9E-AF65-4997-9747-C7FC62C41BFE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Personal Development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0E9612-4DE5-45B5-9466-15273C489A8B}"/>
              </a:ext>
            </a:extLst>
          </p:cNvPr>
          <p:cNvSpPr/>
          <p:nvPr/>
        </p:nvSpPr>
        <p:spPr>
          <a:xfrm>
            <a:off x="914400" y="1905000"/>
            <a:ext cx="3302000" cy="3632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40D615-D8EF-4A10-9CF3-C44BE83204C3}"/>
              </a:ext>
            </a:extLst>
          </p:cNvPr>
          <p:cNvSpPr/>
          <p:nvPr/>
        </p:nvSpPr>
        <p:spPr>
          <a:xfrm>
            <a:off x="914400" y="1905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1C45F-A44B-406A-92CC-C8DF269D4EA3}"/>
              </a:ext>
            </a:extLst>
          </p:cNvPr>
          <p:cNvSpPr txBox="1"/>
          <p:nvPr/>
        </p:nvSpPr>
        <p:spPr>
          <a:xfrm>
            <a:off x="1193800" y="21844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Finish books, not fast-food apps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899113-8767-45D1-B859-DDD3E925621C}"/>
              </a:ext>
            </a:extLst>
          </p:cNvPr>
          <p:cNvSpPr txBox="1"/>
          <p:nvPr/>
        </p:nvSpPr>
        <p:spPr>
          <a:xfrm>
            <a:off x="1193800" y="2997200"/>
            <a:ext cx="27432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Balanced library, not all self-help</a:t>
            </a:r>
          </a:p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Audio, e-book or paper. No excuses</a:t>
            </a:r>
          </a:p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One a month is twelve in a year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AACCD1-854F-4951-AB21-0DA7BEB4A9D5}"/>
              </a:ext>
            </a:extLst>
          </p:cNvPr>
          <p:cNvSpPr/>
          <p:nvPr/>
        </p:nvSpPr>
        <p:spPr>
          <a:xfrm>
            <a:off x="4445000" y="1905000"/>
            <a:ext cx="3302000" cy="3632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E01F8A5-74AF-4C0A-825A-15238F6AEDDC}"/>
              </a:ext>
            </a:extLst>
          </p:cNvPr>
          <p:cNvSpPr/>
          <p:nvPr/>
        </p:nvSpPr>
        <p:spPr>
          <a:xfrm>
            <a:off x="4445000" y="1905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FEE22A-BED7-4C91-ADBD-4E2A63AFB126}"/>
              </a:ext>
            </a:extLst>
          </p:cNvPr>
          <p:cNvSpPr txBox="1"/>
          <p:nvPr/>
        </p:nvSpPr>
        <p:spPr>
          <a:xfrm>
            <a:off x="4724400" y="21844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Curate free sources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324DD3-DA91-47D8-B379-9AED87C597D7}"/>
              </a:ext>
            </a:extLst>
          </p:cNvPr>
          <p:cNvSpPr txBox="1"/>
          <p:nvPr/>
        </p:nvSpPr>
        <p:spPr>
          <a:xfrm>
            <a:off x="4724400" y="2997200"/>
            <a:ext cx="27432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LinkedIn, podcasts, YouTube, blogs</a:t>
            </a:r>
          </a:p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Few channels, chosen for this season</a:t>
            </a:r>
          </a:p>
          <a:p>
            <a:pPr marL="180000" indent="-180000">
              <a:lnSpc>
                <a:spcPct val="100000"/>
              </a:lnSpc>
              <a:spcBef>
                <a:spcPts val="3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Tie them to this year's priorities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99762ED-0988-4E1E-A2FC-C39B02D6F1E6}"/>
              </a:ext>
            </a:extLst>
          </p:cNvPr>
          <p:cNvSpPr/>
          <p:nvPr/>
        </p:nvSpPr>
        <p:spPr>
          <a:xfrm>
            <a:off x="7975600" y="1905000"/>
            <a:ext cx="3302000" cy="36322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2B1DEF6-B56B-409A-99FF-B20AADA067A8}"/>
              </a:ext>
            </a:extLst>
          </p:cNvPr>
          <p:cNvSpPr/>
          <p:nvPr/>
        </p:nvSpPr>
        <p:spPr>
          <a:xfrm>
            <a:off x="7975600" y="1905000"/>
            <a:ext cx="3302000" cy="762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>
            <a:noAutofit/>
          </a:bodyPr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D9AFC84-5684-41A8-9207-31E0C73EC06D}"/>
              </a:ext>
            </a:extLst>
          </p:cNvPr>
          <p:cNvSpPr txBox="1"/>
          <p:nvPr/>
        </p:nvSpPr>
        <p:spPr>
          <a:xfrm>
            <a:off x="8255000" y="2184400"/>
            <a:ext cx="2743200" cy="711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Seek hard work on purpose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771D87F-4CCE-4102-AEEC-D05BF2808531}"/>
              </a:ext>
            </a:extLst>
          </p:cNvPr>
          <p:cNvSpPr txBox="1"/>
          <p:nvPr/>
        </p:nvSpPr>
        <p:spPr>
          <a:xfrm>
            <a:off x="8255000" y="2997200"/>
            <a:ext cx="2743200" cy="2362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marL="180000" indent="-1800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Understand the power of results</a:t>
            </a:r>
          </a:p>
          <a:p>
            <a:pPr marL="180000" indent="-1800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For expertise, do it free if you must</a:t>
            </a:r>
          </a:p>
          <a:p>
            <a:pPr marL="180000" indent="-180000">
              <a:lnSpc>
                <a:spcPct val="100000"/>
              </a:lnSpc>
              <a:spcBef>
                <a:spcPts val="400"/>
              </a:spcBef>
              <a:buFont typeface="Arial"/>
              <a:buChar char="•"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Teaching others makes you a master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4681EC-908D-413D-B45A-58A51F821654}"/>
              </a:ext>
            </a:extLst>
          </p:cNvPr>
          <p:cNvSpPr txBox="1"/>
          <p:nvPr/>
        </p:nvSpPr>
        <p:spPr>
          <a:xfrm>
            <a:off x="914400" y="5740400"/>
            <a:ext cx="103632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Eighty per cent of what you read should match the season you are actually in.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19012CF-7361-4EA9-B493-D6801F1F12E9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41667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6F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D26297-4CE6-40E3-866D-D21E47F7C9CC}"/>
              </a:ext>
            </a:extLst>
          </p:cNvPr>
          <p:cNvSpPr/>
          <p:nvPr/>
        </p:nvSpPr>
        <p:spPr>
          <a:xfrm>
            <a:off x="0" y="0"/>
            <a:ext cx="12192000" cy="1422400"/>
          </a:xfrm>
          <a:prstGeom prst="rect">
            <a:avLst/>
          </a:prstGeom>
          <a:solidFill>
            <a:srgbClr val="10312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6E6601-5F2D-4EB3-8C2F-4B9BD2B87A38}"/>
              </a:ext>
            </a:extLst>
          </p:cNvPr>
          <p:cNvSpPr/>
          <p:nvPr/>
        </p:nvSpPr>
        <p:spPr>
          <a:xfrm>
            <a:off x="0" y="1422400"/>
            <a:ext cx="12192000" cy="508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5F3700D-477A-4F7F-B6FB-957CB764221B}"/>
              </a:ext>
            </a:extLst>
          </p:cNvPr>
          <p:cNvSpPr txBox="1"/>
          <p:nvPr/>
        </p:nvSpPr>
        <p:spPr>
          <a:xfrm>
            <a:off x="914400" y="381000"/>
            <a:ext cx="889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400" b="1" spc="300" dirty="0">
                <a:solidFill>
                  <a:srgbClr val="E9A13B"/>
                </a:solidFill>
                <a:latin typeface="Arial"/>
                <a:cs typeface="Arial"/>
              </a:rPr>
              <a:t>THE BIG THREE   ·   THREE   ·   PERSONAL EFFECTIVENESS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65415-74DC-47FF-B0C4-3E0BDC8351D9}"/>
              </a:ext>
            </a:extLst>
          </p:cNvPr>
          <p:cNvSpPr txBox="1"/>
          <p:nvPr/>
        </p:nvSpPr>
        <p:spPr>
          <a:xfrm>
            <a:off x="914400" y="685800"/>
            <a:ext cx="9652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3200" b="1" dirty="0">
                <a:solidFill>
                  <a:srgbClr val="FFFFFF"/>
                </a:solidFill>
                <a:latin typeface="Arial"/>
                <a:cs typeface="Arial"/>
              </a:rPr>
              <a:t>Find your hack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DB2F061-9ABB-43DC-9699-7451046D460D}"/>
              </a:ext>
            </a:extLst>
          </p:cNvPr>
          <p:cNvSpPr/>
          <p:nvPr/>
        </p:nvSpPr>
        <p:spPr>
          <a:xfrm>
            <a:off x="914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D3A379-9519-44CD-90FD-F40738135556}"/>
              </a:ext>
            </a:extLst>
          </p:cNvPr>
          <p:cNvSpPr/>
          <p:nvPr/>
        </p:nvSpPr>
        <p:spPr>
          <a:xfrm>
            <a:off x="914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21859A-5827-40E0-8C44-4DDE47B1AAE1}"/>
              </a:ext>
            </a:extLst>
          </p:cNvPr>
          <p:cNvSpPr txBox="1"/>
          <p:nvPr/>
        </p:nvSpPr>
        <p:spPr>
          <a:xfrm>
            <a:off x="1219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People, in my case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8376D1F-D906-47ED-A6A9-82AB7F63802B}"/>
              </a:ext>
            </a:extLst>
          </p:cNvPr>
          <p:cNvSpPr txBox="1"/>
          <p:nvPr/>
        </p:nvSpPr>
        <p:spPr>
          <a:xfrm>
            <a:off x="1219200" y="2336800"/>
            <a:ext cx="4191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I surround myself with people who cover my gaps, and I stay vulnerable enough to be mentored. That is my hack.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A80E23B-A52F-4C68-BB90-F5372D95F280}"/>
              </a:ext>
            </a:extLst>
          </p:cNvPr>
          <p:cNvSpPr/>
          <p:nvPr/>
        </p:nvSpPr>
        <p:spPr>
          <a:xfrm>
            <a:off x="6248400" y="17780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1E3EC6-6948-4D30-918E-7E570FE45ECF}"/>
              </a:ext>
            </a:extLst>
          </p:cNvPr>
          <p:cNvSpPr/>
          <p:nvPr/>
        </p:nvSpPr>
        <p:spPr>
          <a:xfrm>
            <a:off x="6248400" y="17780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67175D-4B19-44A6-B94D-E19620860F84}"/>
              </a:ext>
            </a:extLst>
          </p:cNvPr>
          <p:cNvSpPr txBox="1"/>
          <p:nvPr/>
        </p:nvSpPr>
        <p:spPr>
          <a:xfrm>
            <a:off x="6553200" y="19558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Where you come from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EFC5070-5EAE-4164-92B4-898772A50CFE}"/>
              </a:ext>
            </a:extLst>
          </p:cNvPr>
          <p:cNvSpPr txBox="1"/>
          <p:nvPr/>
        </p:nvSpPr>
        <p:spPr>
          <a:xfrm>
            <a:off x="6553200" y="2336800"/>
            <a:ext cx="4191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Home applies its own pressure. If you must show up in the village at Christmas, that deadline is already working for you.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9591312-089B-4AB0-A9AB-EDE0FBB3B038}"/>
              </a:ext>
            </a:extLst>
          </p:cNvPr>
          <p:cNvSpPr/>
          <p:nvPr/>
        </p:nvSpPr>
        <p:spPr>
          <a:xfrm>
            <a:off x="914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4DB3D28-7EAA-4F10-94F6-2ED084564D3B}"/>
              </a:ext>
            </a:extLst>
          </p:cNvPr>
          <p:cNvSpPr/>
          <p:nvPr/>
        </p:nvSpPr>
        <p:spPr>
          <a:xfrm>
            <a:off x="914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2CF3885-4AA7-4563-8F41-F12AD9531558}"/>
              </a:ext>
            </a:extLst>
          </p:cNvPr>
          <p:cNvSpPr txBox="1"/>
          <p:nvPr/>
        </p:nvSpPr>
        <p:spPr>
          <a:xfrm>
            <a:off x="1219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The people you love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21329C-4D2E-4DF9-BA15-D44CC1184B14}"/>
              </a:ext>
            </a:extLst>
          </p:cNvPr>
          <p:cNvSpPr txBox="1"/>
          <p:nvPr/>
        </p:nvSpPr>
        <p:spPr>
          <a:xfrm>
            <a:off x="1219200" y="4521200"/>
            <a:ext cx="4191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A spouse, a child, a parent. Some of us only move when somebody else is depending on the result.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13BD759-AA6C-478C-B368-3FB398873161}"/>
              </a:ext>
            </a:extLst>
          </p:cNvPr>
          <p:cNvSpPr/>
          <p:nvPr/>
        </p:nvSpPr>
        <p:spPr>
          <a:xfrm>
            <a:off x="6248400" y="3962400"/>
            <a:ext cx="5029200" cy="2032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E169E57-F91D-4512-B813-5D0BE44E3FC8}"/>
              </a:ext>
            </a:extLst>
          </p:cNvPr>
          <p:cNvSpPr/>
          <p:nvPr/>
        </p:nvSpPr>
        <p:spPr>
          <a:xfrm>
            <a:off x="6248400" y="3962400"/>
            <a:ext cx="63500" cy="2032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6FC212-93FC-4C5E-8447-4CA3397965D3}"/>
              </a:ext>
            </a:extLst>
          </p:cNvPr>
          <p:cNvSpPr txBox="1"/>
          <p:nvPr/>
        </p:nvSpPr>
        <p:spPr>
          <a:xfrm>
            <a:off x="6553200" y="4140200"/>
            <a:ext cx="44196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2000" b="1" dirty="0">
                <a:solidFill>
                  <a:srgbClr val="10312B"/>
                </a:solidFill>
                <a:latin typeface="Arial"/>
                <a:cs typeface="Arial"/>
              </a:rPr>
              <a:t>Say it out loud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4AB5075-82A9-47CC-9D62-7E59213B79A6}"/>
              </a:ext>
            </a:extLst>
          </p:cNvPr>
          <p:cNvSpPr txBox="1"/>
          <p:nvPr/>
        </p:nvSpPr>
        <p:spPr>
          <a:xfrm>
            <a:off x="6553200" y="4521200"/>
            <a:ext cx="4191000" cy="1320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lnSpc>
                <a:spcPct val="104000"/>
              </a:lnSpc>
              <a:buNone/>
            </a:pPr>
            <a:r>
              <a:rPr lang="en-NG" sz="1800" dirty="0">
                <a:solidFill>
                  <a:srgbClr val="3F4A47"/>
                </a:solidFill>
                <a:latin typeface="Arial"/>
                <a:cs typeface="Arial"/>
              </a:rPr>
              <a:t>Commit publicly to people who will ask you about it. A date announced is far harder to abandon than a date written down.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896128C-EE16-4A6A-9152-92CB4C978200}"/>
              </a:ext>
            </a:extLst>
          </p:cNvPr>
          <p:cNvSpPr txBox="1"/>
          <p:nvPr/>
        </p:nvSpPr>
        <p:spPr>
          <a:xfrm>
            <a:off x="1219200" y="6197600"/>
            <a:ext cx="10058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b="1" dirty="0">
                <a:solidFill>
                  <a:srgbClr val="10312B"/>
                </a:solidFill>
                <a:latin typeface="Arial"/>
                <a:cs typeface="Arial"/>
              </a:rPr>
              <a:t>You already know what to do. The hack carries you on the day you do not feel like it.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085044-F04E-4DF3-B460-54172D3DA46A}"/>
              </a:ext>
            </a:extLst>
          </p:cNvPr>
          <p:cNvSpPr txBox="1"/>
          <p:nvPr/>
        </p:nvSpPr>
        <p:spPr>
          <a:xfrm>
            <a:off x="11074400" y="6451600"/>
            <a:ext cx="508000" cy="2540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NG" sz="1200">
                <a:solidFill>
                  <a:srgbClr val="7A8683"/>
                </a:solidFill>
                <a:latin typeface="Arial"/>
                <a:cs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419180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3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3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3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3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3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3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3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312B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38EA8DF-1146-4861-866F-A6E930D6F3D3}"/>
              </a:ext>
            </a:extLst>
          </p:cNvPr>
          <p:cNvSpPr/>
          <p:nvPr/>
        </p:nvSpPr>
        <p:spPr>
          <a:xfrm>
            <a:off x="0" y="0"/>
            <a:ext cx="1905000" cy="6858000"/>
          </a:xfrm>
          <a:prstGeom prst="rect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334D90-EAAA-4D17-B882-615CC1DB6FD5}"/>
              </a:ext>
            </a:extLst>
          </p:cNvPr>
          <p:cNvSpPr txBox="1"/>
          <p:nvPr/>
        </p:nvSpPr>
        <p:spPr>
          <a:xfrm>
            <a:off x="6604000" y="1524000"/>
            <a:ext cx="5080000" cy="114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6600" b="1" dirty="0">
                <a:solidFill>
                  <a:srgbClr val="E9A13B"/>
                </a:solidFill>
                <a:latin typeface="Arial"/>
                <a:cs typeface="Arial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5A4CBC-A33F-4B61-A305-E4F27233B6F0}"/>
              </a:ext>
            </a:extLst>
          </p:cNvPr>
          <p:cNvSpPr txBox="1"/>
          <p:nvPr/>
        </p:nvSpPr>
        <p:spPr>
          <a:xfrm>
            <a:off x="6604000" y="2794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2000" i="1" dirty="0">
                <a:solidFill>
                  <a:srgbClr val="A9C4BB"/>
                </a:solidFill>
                <a:latin typeface="Arial"/>
                <a:cs typeface="Arial"/>
              </a:rPr>
              <a:t>For further conversations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BE30ED-6ABB-4480-892F-6F56D88BE233}"/>
              </a:ext>
            </a:extLst>
          </p:cNvPr>
          <p:cNvSpPr/>
          <p:nvPr/>
        </p:nvSpPr>
        <p:spPr>
          <a:xfrm>
            <a:off x="6604000" y="3454400"/>
            <a:ext cx="4572000" cy="25400"/>
          </a:xfrm>
          <a:prstGeom prst="rect">
            <a:avLst/>
          </a:prstGeom>
          <a:solidFill>
            <a:srgbClr val="A9C4B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N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6352EAD-CEE5-4141-B028-B4286432537B}"/>
              </a:ext>
            </a:extLst>
          </p:cNvPr>
          <p:cNvSpPr txBox="1"/>
          <p:nvPr/>
        </p:nvSpPr>
        <p:spPr>
          <a:xfrm>
            <a:off x="6604000" y="39370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dirty="0">
                <a:solidFill>
                  <a:srgbClr val="FFFFFF"/>
                </a:solidFill>
                <a:latin typeface="Arial"/>
                <a:cs typeface="Arial"/>
              </a:rPr>
              <a:t>emmanueltarfa@gmail.com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B1DA3C-0503-4311-8165-35644B34DEAC}"/>
              </a:ext>
            </a:extLst>
          </p:cNvPr>
          <p:cNvSpPr txBox="1"/>
          <p:nvPr/>
        </p:nvSpPr>
        <p:spPr>
          <a:xfrm>
            <a:off x="6604000" y="4470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dirty="0">
                <a:solidFill>
                  <a:srgbClr val="FFFFFF"/>
                </a:solidFill>
                <a:latin typeface="Arial"/>
                <a:cs typeface="Arial"/>
              </a:rPr>
              <a:t>Instagram: </a:t>
            </a:r>
            <a:r>
              <a:rPr lang="en-US" sz="1800" dirty="0" err="1">
                <a:solidFill>
                  <a:srgbClr val="FFFFFF"/>
                </a:solidFill>
                <a:latin typeface="Arial"/>
                <a:cs typeface="Arial"/>
              </a:rPr>
              <a:t>tarfaemmanuel</a:t>
            </a:r>
            <a:endParaRPr lang="en-NG" sz="18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1CB1D7-4D1B-429E-8BCD-FEF669328E64}"/>
              </a:ext>
            </a:extLst>
          </p:cNvPr>
          <p:cNvSpPr txBox="1"/>
          <p:nvPr/>
        </p:nvSpPr>
        <p:spPr>
          <a:xfrm>
            <a:off x="6604000" y="50038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>
              <a:buNone/>
            </a:pPr>
            <a:r>
              <a:rPr lang="en-NG" sz="1800" dirty="0">
                <a:solidFill>
                  <a:srgbClr val="FFFFFF"/>
                </a:solidFill>
                <a:latin typeface="Arial"/>
                <a:cs typeface="Arial"/>
              </a:rPr>
              <a:t>LinkedIn: </a:t>
            </a:r>
            <a:r>
              <a:rPr lang="en-US" sz="1800" dirty="0" err="1">
                <a:solidFill>
                  <a:srgbClr val="FFFFFF"/>
                </a:solidFill>
                <a:latin typeface="Arial"/>
                <a:cs typeface="Arial"/>
              </a:rPr>
              <a:t>emmanueltarfa</a:t>
            </a:r>
            <a:endParaRPr lang="en-NG" sz="18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93527A5-29F0-4D18-8953-80238671E9C4}"/>
              </a:ext>
            </a:extLst>
          </p:cNvPr>
          <p:cNvSpPr/>
          <p:nvPr/>
        </p:nvSpPr>
        <p:spPr>
          <a:xfrm>
            <a:off x="1397000" y="1651000"/>
            <a:ext cx="3556000" cy="3556000"/>
          </a:xfrm>
          <a:prstGeom prst="ellipse">
            <a:avLst/>
          </a:prstGeom>
          <a:solidFill>
            <a:srgbClr val="E9A13B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7200" b="1">
                <a:solidFill>
                  <a:srgbClr val="10312B"/>
                </a:solidFill>
                <a:latin typeface="Arial"/>
                <a:cs typeface="Arial"/>
              </a:rPr>
              <a:t>Q&amp;A</a:t>
            </a:r>
            <a:endParaRPr lang="en-NG" sz="7200" b="1">
              <a:solidFill>
                <a:srgbClr val="10312B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3833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  <wetp:taskpane dockstate="right" visibility="0" width="700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52B5D88-2E2C-4AEC-81FD-60D21A6DE40C}">
  <we:reference id="wa200010001" version="1.0.0.1" store="en-US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B6831161-1949-4A87-98EA-FCEF2088CA82}">
  <we:reference id="wa200010725" version="1.0.0.1" store="en-US" storeType="OMEX"/>
  <we:alternateReferences>
    <we:reference id="WA200010725" version="1.0.0.1" store="" storeType="OMEX"/>
  </we:alternateReferences>
  <we:properties>
    <we:property name="claude.fileId" value="&quot;775e3639-b352-478d-a277-866177131abc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709</TotalTime>
  <Words>4784</Words>
  <Application>Microsoft Office PowerPoint</Application>
  <PresentationFormat>Widescreen</PresentationFormat>
  <Paragraphs>578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Idea to Enterprise — YALI Skills Lab 4.0</dc:title>
  <dc:subject>PptxGenJS Presentation</dc:subject>
  <dc:creator>Emmanuel Tarfa</dc:creator>
  <cp:lastModifiedBy>Emmanuel Tarfa</cp:lastModifiedBy>
  <cp:revision>3</cp:revision>
  <dcterms:created xsi:type="dcterms:W3CDTF">2026-08-09T18:29:10Z</dcterms:created>
  <dcterms:modified xsi:type="dcterms:W3CDTF">2026-08-23T16:54:29Z</dcterms:modified>
</cp:coreProperties>
</file>